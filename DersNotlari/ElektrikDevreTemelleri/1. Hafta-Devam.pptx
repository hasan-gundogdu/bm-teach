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8" r:id="rId2"/>
    <p:sldId id="267" r:id="rId3"/>
    <p:sldId id="268" r:id="rId4"/>
    <p:sldId id="270" r:id="rId5"/>
    <p:sldId id="271" r:id="rId6"/>
    <p:sldId id="272" r:id="rId7"/>
    <p:sldId id="273" r:id="rId8"/>
    <p:sldId id="274" r:id="rId9"/>
    <p:sldId id="275" r:id="rId10"/>
    <p:sldId id="276" r:id="rId11"/>
    <p:sldId id="277" r:id="rId12"/>
    <p:sldId id="279" r:id="rId13"/>
    <p:sldId id="280" r:id="rId14"/>
    <p:sldId id="281" r:id="rId15"/>
    <p:sldId id="282" r:id="rId16"/>
    <p:sldId id="283" r:id="rId17"/>
    <p:sldId id="284" r:id="rId18"/>
    <p:sldId id="285" r:id="rId19"/>
    <p:sldId id="288" r:id="rId20"/>
    <p:sldId id="289" r:id="rId21"/>
    <p:sldId id="290" r:id="rId22"/>
    <p:sldId id="291" r:id="rId23"/>
    <p:sldId id="292" r:id="rId24"/>
    <p:sldId id="293" r:id="rId25"/>
    <p:sldId id="294" r:id="rId26"/>
    <p:sldId id="295" r:id="rId27"/>
    <p:sldId id="296" r:id="rId28"/>
    <p:sldId id="299" r:id="rId29"/>
    <p:sldId id="297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3738" autoAdjust="0"/>
  </p:normalViewPr>
  <p:slideViewPr>
    <p:cSldViewPr snapToGrid="0">
      <p:cViewPr varScale="1">
        <p:scale>
          <a:sx n="152" d="100"/>
          <a:sy n="152" d="100"/>
        </p:scale>
        <p:origin x="618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9541448-82AB-4914-BE5F-5733D24C6E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67CBA9F0-BE82-4413-8E88-72B1E2B292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tıklayın</a:t>
            </a:r>
            <a:endParaRPr lang="en-US"/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B3B739B8-660A-4771-95B0-4A643BD0C3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38FD3-5281-4DF8-A843-05D60495E799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34BE3EA1-7589-4DC4-AB31-143F48B069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3BD4D746-3B72-4FF6-9896-72E196FDD4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3AAD4-311F-4612-8505-14503707A2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5702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8F5E2CD0-2048-4BFE-9993-C25995ECAD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A27A4189-E7A6-4CD7-B9DC-4AEA242195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FEBDCA09-E694-4870-B823-3F3F33E187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38FD3-5281-4DF8-A843-05D60495E799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2AAD7D55-A94A-4044-9CDB-3071995F9C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76827F1E-A034-413D-BA65-DD88E5C05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3AAD4-311F-4612-8505-14503707A2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57307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E26167C-14B8-4013-960F-7E54050B6A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0EB088CD-4641-4358-9583-01FCCC3132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473E3995-C4E9-43CA-9006-E93B6E8F98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38FD3-5281-4DF8-A843-05D60495E799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F05F48CF-335B-4945-A23F-41B8309FA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B6654FD2-F60F-403F-B533-4AC92FE9C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3AAD4-311F-4612-8505-14503707A2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95700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2B473BA8-6A65-4553-8A0B-365352F27E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DEC9B05E-66F1-47F2-9E3A-E8408FAE4F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CF9A7E7E-36D9-401B-B8A7-2735DBC000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6435E5B9-E200-4105-B67A-260A46C708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38FD3-5281-4DF8-A843-05D60495E799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88FE02F1-62A8-4833-B563-A4DBC7BD92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75F34748-E17F-4EA7-A189-19A28E738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3AAD4-311F-4612-8505-14503707A2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39224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BDEF047-D4D8-41CC-84B2-4D5F2F33C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611445FA-149D-4D99-8074-4760833E31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A9002720-ADD9-4CE3-97B1-4FB0DE1263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5" name="Metin Yer Tutucusu 4">
            <a:extLst>
              <a:ext uri="{FF2B5EF4-FFF2-40B4-BE49-F238E27FC236}">
                <a16:creationId xmlns:a16="http://schemas.microsoft.com/office/drawing/2014/main" id="{904FCAEC-9BE3-481A-9E85-3993A1107A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A2EEDC06-E592-448E-921D-78079915B73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7" name="Veri Yer Tutucusu 6">
            <a:extLst>
              <a:ext uri="{FF2B5EF4-FFF2-40B4-BE49-F238E27FC236}">
                <a16:creationId xmlns:a16="http://schemas.microsoft.com/office/drawing/2014/main" id="{F6AD9CC5-449F-4320-8F31-715EBB9202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38FD3-5281-4DF8-A843-05D60495E799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8" name="Alt Bilgi Yer Tutucusu 7">
            <a:extLst>
              <a:ext uri="{FF2B5EF4-FFF2-40B4-BE49-F238E27FC236}">
                <a16:creationId xmlns:a16="http://schemas.microsoft.com/office/drawing/2014/main" id="{23A5A5CB-83A3-460F-9086-61DCEA053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ayt Numarası Yer Tutucusu 8">
            <a:extLst>
              <a:ext uri="{FF2B5EF4-FFF2-40B4-BE49-F238E27FC236}">
                <a16:creationId xmlns:a16="http://schemas.microsoft.com/office/drawing/2014/main" id="{1E7AA43A-54A9-48B6-9FEB-9F807D8A5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3AAD4-311F-4612-8505-14503707A2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3664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71CFF14-9AE7-45EC-B4EC-CB56C2B214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D8F17521-3853-40BC-9F00-F603AA529C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38FD3-5281-4DF8-A843-05D60495E799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23D17B5C-8A8B-46A5-8448-D6D4FFD670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9E966F5C-593B-4488-80C7-631143E77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3AAD4-311F-4612-8505-14503707A2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8872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>
            <a:extLst>
              <a:ext uri="{FF2B5EF4-FFF2-40B4-BE49-F238E27FC236}">
                <a16:creationId xmlns:a16="http://schemas.microsoft.com/office/drawing/2014/main" id="{45E8E8D4-7909-4837-A291-25CE931917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38FD3-5281-4DF8-A843-05D60495E799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3" name="Alt Bilgi Yer Tutucusu 2">
            <a:extLst>
              <a:ext uri="{FF2B5EF4-FFF2-40B4-BE49-F238E27FC236}">
                <a16:creationId xmlns:a16="http://schemas.microsoft.com/office/drawing/2014/main" id="{DB0B394B-F330-442B-86C9-7D9B0BABDD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50C20ACE-ED51-4A82-A9E6-343F283B4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3AAD4-311F-4612-8505-14503707A2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6290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8DFFA5D7-3689-4001-8B4B-3A430BFA78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9E8E8873-C7F0-4041-ACB1-2C454FC276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7CFD3129-F66E-4EC2-BC78-4C1876F372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82EE5258-BD87-4E72-9B2B-8CF315979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38FD3-5281-4DF8-A843-05D60495E799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BE3DD2F9-6B5B-48D6-BB6A-48139216CA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A41E35BF-5D6E-40DB-9756-7A683B4F77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3AAD4-311F-4612-8505-14503707A2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81838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71B8FF30-E30C-4033-9E7B-12A1129181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Resim Yer Tutucusu 2">
            <a:extLst>
              <a:ext uri="{FF2B5EF4-FFF2-40B4-BE49-F238E27FC236}">
                <a16:creationId xmlns:a16="http://schemas.microsoft.com/office/drawing/2014/main" id="{8002C691-FBB2-4025-B74D-2D61DB5A2F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E1761F46-8ACE-4673-B158-F8416472A4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C08C1FFE-E35A-49F8-9121-D990BF2CA5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38FD3-5281-4DF8-A843-05D60495E799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8130E97A-1A8E-43C5-A543-B0E661641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8FEB0C1B-D0F4-495B-B6F4-A35BDC1F5A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3AAD4-311F-4612-8505-14503707A2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93995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4E2CB52-0DD1-4EC7-BD2D-CEED673A19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3086EE9B-E8FB-494A-9FFE-1945F3F21A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EADFF0DB-4B3A-4B5C-B704-51A02C7384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38FD3-5281-4DF8-A843-05D60495E799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6F8CEB55-7933-43C8-80AF-BBAF07E631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9C244283-898B-44BA-B49D-77697D539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3AAD4-311F-4612-8505-14503707A2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38475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>
            <a:extLst>
              <a:ext uri="{FF2B5EF4-FFF2-40B4-BE49-F238E27FC236}">
                <a16:creationId xmlns:a16="http://schemas.microsoft.com/office/drawing/2014/main" id="{B3ABB6C1-CA5E-4D09-BE50-BE93367013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0415F308-1297-4267-A07E-1A5ED27247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DAA5E37A-0CA0-4225-A140-667BED377C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38FD3-5281-4DF8-A843-05D60495E799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B86FC4EE-D487-4619-A440-F0144163D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8ACEA6E7-EA75-41B0-B939-C7A263BF7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3AAD4-311F-4612-8505-14503707A2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6459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>
            <a:extLst>
              <a:ext uri="{FF2B5EF4-FFF2-40B4-BE49-F238E27FC236}">
                <a16:creationId xmlns:a16="http://schemas.microsoft.com/office/drawing/2014/main" id="{5207FE43-9806-4543-B5D8-96A6211A9D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A2E49299-A2A7-4757-BD1C-55BF1ABF61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5D8C2E86-4B87-410B-8D70-53703DA1B5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238FD3-5281-4DF8-A843-05D60495E799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22403F26-B1D6-4BC6-BC8C-362A2B9F61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0BB8EBF7-D4E0-4501-B32D-AE06A7FC5F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33AAD4-311F-4612-8505-14503707A2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50103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wmf"/><Relationship Id="rId4" Type="http://schemas.openxmlformats.org/officeDocument/2006/relationships/oleObject" Target="../embeddings/oleObject1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w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wmf"/><Relationship Id="rId3" Type="http://schemas.openxmlformats.org/officeDocument/2006/relationships/oleObject" Target="../embeddings/oleObject4.bin"/><Relationship Id="rId7" Type="http://schemas.openxmlformats.org/officeDocument/2006/relationships/oleObject" Target="../embeddings/oleObject6.bin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wmf"/><Relationship Id="rId5" Type="http://schemas.openxmlformats.org/officeDocument/2006/relationships/oleObject" Target="../embeddings/oleObject5.bin"/><Relationship Id="rId10" Type="http://schemas.openxmlformats.org/officeDocument/2006/relationships/image" Target="../media/image12.wmf"/><Relationship Id="rId4" Type="http://schemas.openxmlformats.org/officeDocument/2006/relationships/image" Target="../media/image9.wmf"/><Relationship Id="rId9" Type="http://schemas.openxmlformats.org/officeDocument/2006/relationships/oleObject" Target="../embeddings/oleObject7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wmf"/><Relationship Id="rId3" Type="http://schemas.openxmlformats.org/officeDocument/2006/relationships/oleObject" Target="../embeddings/oleObject8.bin"/><Relationship Id="rId7" Type="http://schemas.openxmlformats.org/officeDocument/2006/relationships/oleObject" Target="../embeddings/oleObject10.bin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wmf"/><Relationship Id="rId5" Type="http://schemas.openxmlformats.org/officeDocument/2006/relationships/oleObject" Target="../embeddings/oleObject9.bin"/><Relationship Id="rId10" Type="http://schemas.openxmlformats.org/officeDocument/2006/relationships/image" Target="../media/image17.wmf"/><Relationship Id="rId4" Type="http://schemas.openxmlformats.org/officeDocument/2006/relationships/image" Target="../media/image14.wmf"/><Relationship Id="rId9" Type="http://schemas.openxmlformats.org/officeDocument/2006/relationships/oleObject" Target="../embeddings/oleObject11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wmf"/><Relationship Id="rId3" Type="http://schemas.openxmlformats.org/officeDocument/2006/relationships/image" Target="../media/image18.wmf"/><Relationship Id="rId7" Type="http://schemas.openxmlformats.org/officeDocument/2006/relationships/oleObject" Target="../embeddings/oleObject14.bin"/><Relationship Id="rId2" Type="http://schemas.openxmlformats.org/officeDocument/2006/relationships/oleObject" Target="../embeddings/oleObject12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wmf"/><Relationship Id="rId10" Type="http://schemas.openxmlformats.org/officeDocument/2006/relationships/image" Target="../media/image22.emf"/><Relationship Id="rId4" Type="http://schemas.openxmlformats.org/officeDocument/2006/relationships/oleObject" Target="../embeddings/oleObject13.bin"/><Relationship Id="rId9" Type="http://schemas.openxmlformats.org/officeDocument/2006/relationships/oleObject" Target="../embeddings/oleObject15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wmf"/><Relationship Id="rId3" Type="http://schemas.openxmlformats.org/officeDocument/2006/relationships/oleObject" Target="../embeddings/oleObject16.bin"/><Relationship Id="rId7" Type="http://schemas.openxmlformats.org/officeDocument/2006/relationships/oleObject" Target="../embeddings/oleObject18.bin"/><Relationship Id="rId12" Type="http://schemas.openxmlformats.org/officeDocument/2006/relationships/image" Target="../media/image28.wmf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wmf"/><Relationship Id="rId11" Type="http://schemas.openxmlformats.org/officeDocument/2006/relationships/oleObject" Target="../embeddings/oleObject20.bin"/><Relationship Id="rId5" Type="http://schemas.openxmlformats.org/officeDocument/2006/relationships/oleObject" Target="../embeddings/oleObject17.bin"/><Relationship Id="rId10" Type="http://schemas.openxmlformats.org/officeDocument/2006/relationships/image" Target="../media/image27.wmf"/><Relationship Id="rId4" Type="http://schemas.openxmlformats.org/officeDocument/2006/relationships/image" Target="../media/image24.wmf"/><Relationship Id="rId9" Type="http://schemas.openxmlformats.org/officeDocument/2006/relationships/oleObject" Target="../embeddings/oleObject19.bin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wmf"/><Relationship Id="rId5" Type="http://schemas.openxmlformats.org/officeDocument/2006/relationships/oleObject" Target="../embeddings/oleObject22.bin"/><Relationship Id="rId4" Type="http://schemas.openxmlformats.org/officeDocument/2006/relationships/image" Target="../media/image30.w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wmf"/><Relationship Id="rId2" Type="http://schemas.openxmlformats.org/officeDocument/2006/relationships/oleObject" Target="../embeddings/oleObject23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wmf"/><Relationship Id="rId3" Type="http://schemas.openxmlformats.org/officeDocument/2006/relationships/image" Target="../media/image34.wmf"/><Relationship Id="rId7" Type="http://schemas.openxmlformats.org/officeDocument/2006/relationships/oleObject" Target="../embeddings/oleObject26.bin"/><Relationship Id="rId12" Type="http://schemas.openxmlformats.org/officeDocument/2006/relationships/image" Target="../media/image39.wmf"/><Relationship Id="rId2" Type="http://schemas.openxmlformats.org/officeDocument/2006/relationships/oleObject" Target="../embeddings/oleObject24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11" Type="http://schemas.openxmlformats.org/officeDocument/2006/relationships/oleObject" Target="../embeddings/oleObject28.bin"/><Relationship Id="rId5" Type="http://schemas.openxmlformats.org/officeDocument/2006/relationships/image" Target="../media/image35.wmf"/><Relationship Id="rId10" Type="http://schemas.openxmlformats.org/officeDocument/2006/relationships/image" Target="../media/image38.wmf"/><Relationship Id="rId4" Type="http://schemas.openxmlformats.org/officeDocument/2006/relationships/oleObject" Target="../embeddings/oleObject25.bin"/><Relationship Id="rId9" Type="http://schemas.openxmlformats.org/officeDocument/2006/relationships/oleObject" Target="../embeddings/oleObject27.bin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9.bin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wmf"/><Relationship Id="rId5" Type="http://schemas.openxmlformats.org/officeDocument/2006/relationships/oleObject" Target="../embeddings/oleObject30.bin"/><Relationship Id="rId4" Type="http://schemas.openxmlformats.org/officeDocument/2006/relationships/image" Target="../media/image41.w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emf"/><Relationship Id="rId3" Type="http://schemas.openxmlformats.org/officeDocument/2006/relationships/oleObject" Target="../embeddings/oleObject31.bin"/><Relationship Id="rId7" Type="http://schemas.openxmlformats.org/officeDocument/2006/relationships/oleObject" Target="../embeddings/oleObject33.bin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wmf"/><Relationship Id="rId5" Type="http://schemas.openxmlformats.org/officeDocument/2006/relationships/oleObject" Target="../embeddings/oleObject32.bin"/><Relationship Id="rId4" Type="http://schemas.openxmlformats.org/officeDocument/2006/relationships/image" Target="../media/image44.w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wmf"/><Relationship Id="rId13" Type="http://schemas.openxmlformats.org/officeDocument/2006/relationships/oleObject" Target="../embeddings/oleObject39.bin"/><Relationship Id="rId18" Type="http://schemas.openxmlformats.org/officeDocument/2006/relationships/image" Target="../media/image55.wmf"/><Relationship Id="rId3" Type="http://schemas.openxmlformats.org/officeDocument/2006/relationships/oleObject" Target="../embeddings/oleObject34.bin"/><Relationship Id="rId7" Type="http://schemas.openxmlformats.org/officeDocument/2006/relationships/oleObject" Target="../embeddings/oleObject36.bin"/><Relationship Id="rId12" Type="http://schemas.openxmlformats.org/officeDocument/2006/relationships/image" Target="../media/image52.wmf"/><Relationship Id="rId17" Type="http://schemas.openxmlformats.org/officeDocument/2006/relationships/oleObject" Target="../embeddings/oleObject41.bin"/><Relationship Id="rId2" Type="http://schemas.openxmlformats.org/officeDocument/2006/relationships/image" Target="../media/image47.png"/><Relationship Id="rId16" Type="http://schemas.openxmlformats.org/officeDocument/2006/relationships/image" Target="../media/image54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wmf"/><Relationship Id="rId11" Type="http://schemas.openxmlformats.org/officeDocument/2006/relationships/oleObject" Target="../embeddings/oleObject38.bin"/><Relationship Id="rId5" Type="http://schemas.openxmlformats.org/officeDocument/2006/relationships/oleObject" Target="../embeddings/oleObject35.bin"/><Relationship Id="rId15" Type="http://schemas.openxmlformats.org/officeDocument/2006/relationships/oleObject" Target="../embeddings/oleObject40.bin"/><Relationship Id="rId10" Type="http://schemas.openxmlformats.org/officeDocument/2006/relationships/image" Target="../media/image51.wmf"/><Relationship Id="rId4" Type="http://schemas.openxmlformats.org/officeDocument/2006/relationships/image" Target="../media/image48.wmf"/><Relationship Id="rId9" Type="http://schemas.openxmlformats.org/officeDocument/2006/relationships/oleObject" Target="../embeddings/oleObject37.bin"/><Relationship Id="rId14" Type="http://schemas.openxmlformats.org/officeDocument/2006/relationships/image" Target="../media/image53.wmf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wmf"/><Relationship Id="rId2" Type="http://schemas.openxmlformats.org/officeDocument/2006/relationships/oleObject" Target="../embeddings/oleObject42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.jpeg"/><Relationship Id="rId5" Type="http://schemas.openxmlformats.org/officeDocument/2006/relationships/image" Target="../media/image58.wmf"/><Relationship Id="rId4" Type="http://schemas.openxmlformats.org/officeDocument/2006/relationships/oleObject" Target="../embeddings/oleObject43.bin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wmf"/><Relationship Id="rId2" Type="http://schemas.openxmlformats.org/officeDocument/2006/relationships/oleObject" Target="../embeddings/oleObject44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.jpeg"/><Relationship Id="rId5" Type="http://schemas.openxmlformats.org/officeDocument/2006/relationships/image" Target="../media/image60.wmf"/><Relationship Id="rId4" Type="http://schemas.openxmlformats.org/officeDocument/2006/relationships/oleObject" Target="../embeddings/oleObject45.bin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jpeg"/><Relationship Id="rId3" Type="http://schemas.openxmlformats.org/officeDocument/2006/relationships/image" Target="../media/image62.wmf"/><Relationship Id="rId7" Type="http://schemas.openxmlformats.org/officeDocument/2006/relationships/image" Target="../media/image60.wmf"/><Relationship Id="rId2" Type="http://schemas.openxmlformats.org/officeDocument/2006/relationships/oleObject" Target="../embeddings/oleObject46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48.bin"/><Relationship Id="rId5" Type="http://schemas.openxmlformats.org/officeDocument/2006/relationships/image" Target="../media/image63.wmf"/><Relationship Id="rId4" Type="http://schemas.openxmlformats.org/officeDocument/2006/relationships/oleObject" Target="../embeddings/oleObject47.bin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wmf"/><Relationship Id="rId3" Type="http://schemas.openxmlformats.org/officeDocument/2006/relationships/oleObject" Target="../embeddings/oleObject49.bin"/><Relationship Id="rId7" Type="http://schemas.openxmlformats.org/officeDocument/2006/relationships/oleObject" Target="../embeddings/oleObject51.bin"/><Relationship Id="rId2" Type="http://schemas.openxmlformats.org/officeDocument/2006/relationships/image" Target="../media/image64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6.wmf"/><Relationship Id="rId5" Type="http://schemas.openxmlformats.org/officeDocument/2006/relationships/oleObject" Target="../embeddings/oleObject50.bin"/><Relationship Id="rId4" Type="http://schemas.openxmlformats.org/officeDocument/2006/relationships/image" Target="../media/image65.w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emf"/><Relationship Id="rId2" Type="http://schemas.openxmlformats.org/officeDocument/2006/relationships/oleObject" Target="../embeddings/oleObject52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9.wmf"/><Relationship Id="rId4" Type="http://schemas.openxmlformats.org/officeDocument/2006/relationships/oleObject" Target="../embeddings/oleObject53.bin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3.bin"/><Relationship Id="rId3" Type="http://schemas.openxmlformats.org/officeDocument/2006/relationships/image" Target="../media/image68.emf"/><Relationship Id="rId7" Type="http://schemas.openxmlformats.org/officeDocument/2006/relationships/image" Target="../media/image71.wmf"/><Relationship Id="rId2" Type="http://schemas.openxmlformats.org/officeDocument/2006/relationships/oleObject" Target="../embeddings/oleObject52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55.bin"/><Relationship Id="rId11" Type="http://schemas.openxmlformats.org/officeDocument/2006/relationships/image" Target="../media/image73.wmf"/><Relationship Id="rId5" Type="http://schemas.openxmlformats.org/officeDocument/2006/relationships/image" Target="../media/image70.wmf"/><Relationship Id="rId10" Type="http://schemas.openxmlformats.org/officeDocument/2006/relationships/oleObject" Target="../embeddings/oleObject56.bin"/><Relationship Id="rId4" Type="http://schemas.openxmlformats.org/officeDocument/2006/relationships/oleObject" Target="../embeddings/oleObject54.bin"/><Relationship Id="rId9" Type="http://schemas.openxmlformats.org/officeDocument/2006/relationships/image" Target="../media/image72.e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74FC19B6-F42A-41D6-9DF0-9CD12A0C658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tr-TR" dirty="0"/>
              <a:t>Elektrik Devre Temelleri</a:t>
            </a:r>
            <a:br>
              <a:rPr lang="tr-TR" dirty="0"/>
            </a:br>
            <a:r>
              <a:rPr lang="tr-TR" dirty="0"/>
              <a:t>1. </a:t>
            </a:r>
            <a:r>
              <a:rPr lang="tr-TR"/>
              <a:t>Hafta-Devam </a:t>
            </a:r>
            <a:r>
              <a:rPr lang="tr-TR" dirty="0"/>
              <a:t>Ders Notu</a:t>
            </a:r>
            <a:endParaRPr lang="en-US" dirty="0"/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A02FE717-9E97-4DC2-8B33-6CE78765AF6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tr-TR" b="1" dirty="0"/>
              <a:t>Ders Sorumlusu</a:t>
            </a:r>
            <a:r>
              <a:rPr lang="tr-TR" dirty="0"/>
              <a:t>: Dr. </a:t>
            </a:r>
            <a:r>
              <a:rPr lang="tr-TR" dirty="0" err="1"/>
              <a:t>Öğr</a:t>
            </a:r>
            <a:r>
              <a:rPr lang="tr-TR" dirty="0"/>
              <a:t>. Üyesi Ekrem BAŞER</a:t>
            </a:r>
          </a:p>
          <a:p>
            <a:r>
              <a:rPr lang="tr-TR" b="1" dirty="0" err="1"/>
              <a:t>İletişim</a:t>
            </a:r>
            <a:r>
              <a:rPr lang="tr-TR" dirty="0" err="1"/>
              <a:t>:ekrembaser</a:t>
            </a:r>
            <a:r>
              <a:rPr lang="tr-TR" dirty="0"/>
              <a:t>@</a:t>
            </a:r>
            <a:r>
              <a:rPr lang="en-US" dirty="0" err="1"/>
              <a:t>duzce</a:t>
            </a:r>
            <a:r>
              <a:rPr lang="tr-TR" dirty="0"/>
              <a:t>.edu.tr</a:t>
            </a:r>
          </a:p>
        </p:txBody>
      </p:sp>
    </p:spTree>
    <p:extLst>
      <p:ext uri="{BB962C8B-B14F-4D97-AF65-F5344CB8AC3E}">
        <p14:creationId xmlns:p14="http://schemas.microsoft.com/office/powerpoint/2010/main" val="3068504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ct val="50000"/>
              </a:spcBef>
            </a:pPr>
            <a:r>
              <a:rPr lang="tr-TR" dirty="0">
                <a:latin typeface="Times New Roman" charset="0"/>
                <a:cs typeface="Times New Roman" charset="0"/>
              </a:rPr>
              <a:t>İçerik</a:t>
            </a:r>
            <a:endParaRPr lang="en-US" dirty="0">
              <a:latin typeface="Times New Roman" charset="0"/>
              <a:cs typeface="Times New Roman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ct val="50000"/>
              </a:spcBef>
            </a:pPr>
            <a:r>
              <a:rPr lang="tr-TR" dirty="0">
                <a:latin typeface="Times New Roman" charset="0"/>
                <a:cs typeface="Times New Roman" charset="0"/>
              </a:rPr>
              <a:t>Düğüm Gerilimleri Yöntemi</a:t>
            </a:r>
          </a:p>
          <a:p>
            <a:pPr>
              <a:spcBef>
                <a:spcPct val="50000"/>
              </a:spcBef>
            </a:pPr>
            <a:r>
              <a:rPr lang="tr-TR" dirty="0">
                <a:latin typeface="Times New Roman" charset="0"/>
                <a:cs typeface="Times New Roman" charset="0"/>
              </a:rPr>
              <a:t>Çevre Akımları Yöntemi</a:t>
            </a:r>
          </a:p>
        </p:txBody>
      </p:sp>
    </p:spTree>
    <p:extLst>
      <p:ext uri="{BB962C8B-B14F-4D97-AF65-F5344CB8AC3E}">
        <p14:creationId xmlns:p14="http://schemas.microsoft.com/office/powerpoint/2010/main" val="29097554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75988646-961B-439D-B87B-AF4528DC04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ct val="50000"/>
              </a:spcBef>
            </a:pPr>
            <a:r>
              <a:rPr lang="tr-TR" dirty="0">
                <a:latin typeface="Times New Roman" charset="0"/>
                <a:cs typeface="Times New Roman" charset="0"/>
              </a:rPr>
              <a:t>Düğüm Gerilimleri Yöntemi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AD4548F0-8D13-4025-9F55-3DCF0D326F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en-US" dirty="0"/>
              <a:t>Bu </a:t>
            </a:r>
            <a:r>
              <a:rPr lang="en-US" altLang="en-US" dirty="0" err="1"/>
              <a:t>yöntem</a:t>
            </a:r>
            <a:r>
              <a:rPr lang="en-US" altLang="en-US" dirty="0"/>
              <a:t> </a:t>
            </a:r>
            <a:r>
              <a:rPr lang="en-US" altLang="en-US" dirty="0" err="1"/>
              <a:t>Kirchoff</a:t>
            </a:r>
            <a:r>
              <a:rPr lang="en-US" altLang="en-US" dirty="0"/>
              <a:t> </a:t>
            </a:r>
            <a:r>
              <a:rPr lang="en-US" altLang="en-US" dirty="0" err="1"/>
              <a:t>akımlar</a:t>
            </a:r>
            <a:r>
              <a:rPr lang="en-US" altLang="en-US" dirty="0"/>
              <a:t> </a:t>
            </a:r>
            <a:r>
              <a:rPr lang="en-US" altLang="en-US" dirty="0" err="1"/>
              <a:t>yasasının</a:t>
            </a:r>
            <a:r>
              <a:rPr lang="en-US" altLang="en-US" dirty="0"/>
              <a:t> </a:t>
            </a:r>
            <a:r>
              <a:rPr lang="en-US" altLang="en-US" dirty="0" err="1"/>
              <a:t>bir</a:t>
            </a:r>
            <a:r>
              <a:rPr lang="en-US" altLang="en-US" dirty="0"/>
              <a:t> </a:t>
            </a:r>
            <a:r>
              <a:rPr lang="en-US" altLang="en-US" dirty="0" err="1"/>
              <a:t>uygulamasıdır</a:t>
            </a:r>
            <a:r>
              <a:rPr lang="en-US" altLang="en-US" dirty="0"/>
              <a:t>.</a:t>
            </a:r>
          </a:p>
          <a:p>
            <a:r>
              <a:rPr lang="en-US" altLang="en-US" dirty="0" err="1"/>
              <a:t>Çözüm</a:t>
            </a:r>
            <a:r>
              <a:rPr lang="en-US" altLang="en-US" dirty="0"/>
              <a:t> </a:t>
            </a:r>
            <a:r>
              <a:rPr lang="en-US" altLang="en-US" dirty="0" err="1"/>
              <a:t>aşamasında</a:t>
            </a:r>
            <a:r>
              <a:rPr lang="en-US" altLang="en-US" dirty="0"/>
              <a:t> </a:t>
            </a:r>
            <a:r>
              <a:rPr lang="en-US" altLang="en-US" dirty="0" err="1"/>
              <a:t>gerilimi</a:t>
            </a:r>
            <a:r>
              <a:rPr lang="en-US" altLang="en-US" dirty="0"/>
              <a:t> </a:t>
            </a:r>
            <a:r>
              <a:rPr lang="en-US" altLang="en-US" dirty="0" err="1"/>
              <a:t>sıfır</a:t>
            </a:r>
            <a:r>
              <a:rPr lang="en-US" altLang="en-US" dirty="0"/>
              <a:t> </a:t>
            </a:r>
            <a:r>
              <a:rPr lang="en-US" altLang="en-US" dirty="0" err="1"/>
              <a:t>kabul</a:t>
            </a:r>
            <a:r>
              <a:rPr lang="en-US" altLang="en-US" dirty="0"/>
              <a:t> </a:t>
            </a:r>
            <a:r>
              <a:rPr lang="en-US" altLang="en-US" dirty="0" err="1"/>
              <a:t>edilen</a:t>
            </a:r>
            <a:r>
              <a:rPr lang="en-US" altLang="en-US" dirty="0"/>
              <a:t> </a:t>
            </a:r>
            <a:r>
              <a:rPr lang="en-US" altLang="en-US" dirty="0" err="1"/>
              <a:t>düğüme</a:t>
            </a:r>
            <a:r>
              <a:rPr lang="tr-TR" altLang="en-US" dirty="0"/>
              <a:t> </a:t>
            </a:r>
            <a:r>
              <a:rPr lang="en-US" altLang="en-US" dirty="0" err="1"/>
              <a:t>referans</a:t>
            </a:r>
            <a:r>
              <a:rPr lang="en-US" altLang="en-US" dirty="0"/>
              <a:t> </a:t>
            </a:r>
            <a:r>
              <a:rPr lang="en-US" altLang="en-US" dirty="0" err="1"/>
              <a:t>düğümü</a:t>
            </a:r>
            <a:r>
              <a:rPr lang="en-US" altLang="en-US" dirty="0"/>
              <a:t> </a:t>
            </a:r>
            <a:r>
              <a:rPr lang="en-US" altLang="en-US" dirty="0" err="1"/>
              <a:t>denir</a:t>
            </a:r>
            <a:r>
              <a:rPr lang="en-US" altLang="en-US" dirty="0"/>
              <a:t>.</a:t>
            </a:r>
          </a:p>
          <a:p>
            <a:r>
              <a:rPr lang="en-US" altLang="en-US" dirty="0" err="1"/>
              <a:t>Gerilim</a:t>
            </a:r>
            <a:r>
              <a:rPr lang="en-US" altLang="en-US" dirty="0"/>
              <a:t> </a:t>
            </a:r>
            <a:r>
              <a:rPr lang="en-US" altLang="en-US" dirty="0" err="1"/>
              <a:t>kaynağının</a:t>
            </a:r>
            <a:r>
              <a:rPr lang="en-US" altLang="en-US" dirty="0"/>
              <a:t> </a:t>
            </a:r>
            <a:r>
              <a:rPr lang="en-US" altLang="en-US" dirty="0" err="1"/>
              <a:t>olmadığı</a:t>
            </a:r>
            <a:r>
              <a:rPr lang="en-US" altLang="en-US" dirty="0"/>
              <a:t> 𝑛 </a:t>
            </a:r>
            <a:r>
              <a:rPr lang="en-US" altLang="en-US" dirty="0" err="1"/>
              <a:t>düğümlü</a:t>
            </a:r>
            <a:r>
              <a:rPr lang="en-US" altLang="en-US" dirty="0"/>
              <a:t> </a:t>
            </a:r>
            <a:r>
              <a:rPr lang="en-US" altLang="en-US" dirty="0" err="1"/>
              <a:t>bir</a:t>
            </a:r>
            <a:r>
              <a:rPr lang="en-US" altLang="en-US" dirty="0"/>
              <a:t> </a:t>
            </a:r>
            <a:r>
              <a:rPr lang="en-US" altLang="en-US" dirty="0" err="1"/>
              <a:t>devrede</a:t>
            </a:r>
            <a:r>
              <a:rPr lang="tr-TR" altLang="en-US" dirty="0"/>
              <a:t> </a:t>
            </a:r>
            <a:r>
              <a:rPr lang="en-US" altLang="en-US" dirty="0" err="1"/>
              <a:t>düğüm</a:t>
            </a:r>
            <a:r>
              <a:rPr lang="en-US" altLang="en-US" dirty="0"/>
              <a:t> </a:t>
            </a:r>
            <a:r>
              <a:rPr lang="en-US" altLang="en-US" dirty="0" err="1"/>
              <a:t>gerilimleri</a:t>
            </a:r>
            <a:r>
              <a:rPr lang="en-US" altLang="en-US" dirty="0"/>
              <a:t> </a:t>
            </a:r>
            <a:r>
              <a:rPr lang="en-US" altLang="en-US" dirty="0" err="1"/>
              <a:t>yöntemi</a:t>
            </a:r>
            <a:r>
              <a:rPr lang="en-US" altLang="en-US" dirty="0"/>
              <a:t> </a:t>
            </a:r>
            <a:r>
              <a:rPr lang="en-US" altLang="en-US" dirty="0" err="1"/>
              <a:t>aşağıdaki</a:t>
            </a:r>
            <a:r>
              <a:rPr lang="en-US" altLang="en-US" dirty="0"/>
              <a:t> </a:t>
            </a:r>
            <a:r>
              <a:rPr lang="en-US" altLang="en-US" dirty="0" err="1"/>
              <a:t>üç</a:t>
            </a:r>
            <a:r>
              <a:rPr lang="en-US" altLang="en-US" dirty="0"/>
              <a:t> </a:t>
            </a:r>
            <a:r>
              <a:rPr lang="en-US" altLang="en-US" dirty="0" err="1"/>
              <a:t>adımda</a:t>
            </a:r>
            <a:r>
              <a:rPr lang="en-US" altLang="en-US" dirty="0"/>
              <a:t> </a:t>
            </a:r>
            <a:r>
              <a:rPr lang="en-US" altLang="en-US" dirty="0" err="1"/>
              <a:t>uygulanır</a:t>
            </a:r>
            <a:r>
              <a:rPr lang="en-US" altLang="en-US" dirty="0"/>
              <a:t>.</a:t>
            </a:r>
          </a:p>
          <a:p>
            <a:pPr lvl="1"/>
            <a:r>
              <a:rPr lang="en-US" altLang="en-US" dirty="0"/>
              <a:t>1. Bir </a:t>
            </a:r>
            <a:r>
              <a:rPr lang="en-US" altLang="en-US" dirty="0" err="1"/>
              <a:t>düğümü</a:t>
            </a:r>
            <a:r>
              <a:rPr lang="en-US" altLang="en-US" dirty="0"/>
              <a:t> </a:t>
            </a:r>
            <a:r>
              <a:rPr lang="en-US" altLang="en-US" dirty="0" err="1"/>
              <a:t>referans</a:t>
            </a:r>
            <a:r>
              <a:rPr lang="en-US" altLang="en-US" dirty="0"/>
              <a:t> </a:t>
            </a:r>
            <a:r>
              <a:rPr lang="en-US" altLang="en-US" dirty="0" err="1"/>
              <a:t>seç</a:t>
            </a:r>
            <a:r>
              <a:rPr lang="en-US" altLang="en-US" dirty="0"/>
              <a:t>. </a:t>
            </a:r>
            <a:r>
              <a:rPr lang="en-US" altLang="en-US" dirty="0" err="1"/>
              <a:t>Geriye</a:t>
            </a:r>
            <a:r>
              <a:rPr lang="en-US" altLang="en-US" dirty="0"/>
              <a:t> </a:t>
            </a:r>
            <a:r>
              <a:rPr lang="en-US" altLang="en-US" dirty="0" err="1"/>
              <a:t>kalan</a:t>
            </a:r>
            <a:r>
              <a:rPr lang="en-US" altLang="en-US" dirty="0"/>
              <a:t> n-1 </a:t>
            </a:r>
            <a:r>
              <a:rPr lang="en-US" altLang="en-US" dirty="0" err="1"/>
              <a:t>düğüm</a:t>
            </a:r>
            <a:r>
              <a:rPr lang="en-US" altLang="en-US" dirty="0"/>
              <a:t> </a:t>
            </a:r>
            <a:r>
              <a:rPr lang="en-US" altLang="en-US" dirty="0" err="1"/>
              <a:t>için</a:t>
            </a:r>
            <a:r>
              <a:rPr lang="tr-TR" altLang="en-US" dirty="0"/>
              <a:t> </a:t>
            </a:r>
            <a:r>
              <a:rPr lang="en-US" altLang="en-US" dirty="0" err="1"/>
              <a:t>referans</a:t>
            </a:r>
            <a:r>
              <a:rPr lang="en-US" altLang="en-US" dirty="0"/>
              <a:t> </a:t>
            </a:r>
            <a:r>
              <a:rPr lang="en-US" altLang="en-US" dirty="0" err="1"/>
              <a:t>düğümüne</a:t>
            </a:r>
            <a:r>
              <a:rPr lang="en-US" altLang="en-US" dirty="0"/>
              <a:t> </a:t>
            </a:r>
            <a:r>
              <a:rPr lang="en-US" altLang="en-US" dirty="0" err="1"/>
              <a:t>göre</a:t>
            </a:r>
            <a:r>
              <a:rPr lang="en-US" altLang="en-US" dirty="0"/>
              <a:t> 𝑣1, 𝑣2,…𝑣𝑛</a:t>
            </a:r>
            <a:r>
              <a:rPr lang="tr-TR" altLang="en-US" dirty="0"/>
              <a:t> </a:t>
            </a:r>
            <a:r>
              <a:rPr lang="en-US" altLang="en-US" dirty="0" err="1"/>
              <a:t>düğüm</a:t>
            </a:r>
            <a:r>
              <a:rPr lang="en-US" altLang="en-US" dirty="0"/>
              <a:t> </a:t>
            </a:r>
            <a:r>
              <a:rPr lang="en-US" altLang="en-US" dirty="0" err="1"/>
              <a:t>gerilimlerini</a:t>
            </a:r>
            <a:r>
              <a:rPr lang="tr-TR" altLang="en-US" dirty="0"/>
              <a:t> </a:t>
            </a:r>
            <a:r>
              <a:rPr lang="en-US" altLang="en-US" dirty="0" err="1"/>
              <a:t>hesapla</a:t>
            </a:r>
            <a:r>
              <a:rPr lang="en-US" altLang="en-US" dirty="0"/>
              <a:t>.</a:t>
            </a:r>
          </a:p>
          <a:p>
            <a:pPr lvl="1"/>
            <a:r>
              <a:rPr lang="en-US" altLang="en-US" dirty="0"/>
              <a:t>2. </a:t>
            </a:r>
            <a:r>
              <a:rPr lang="en-US" altLang="en-US" dirty="0" err="1"/>
              <a:t>Referans</a:t>
            </a:r>
            <a:r>
              <a:rPr lang="en-US" altLang="en-US" dirty="0"/>
              <a:t> </a:t>
            </a:r>
            <a:r>
              <a:rPr lang="en-US" altLang="en-US" dirty="0" err="1"/>
              <a:t>düğümü</a:t>
            </a:r>
            <a:r>
              <a:rPr lang="en-US" altLang="en-US" dirty="0"/>
              <a:t> </a:t>
            </a:r>
            <a:r>
              <a:rPr lang="tr-TR" altLang="en-US" dirty="0"/>
              <a:t>(toprak düğümü, 0 potansiyelli düğüm) </a:t>
            </a:r>
            <a:r>
              <a:rPr lang="en-US" altLang="en-US" dirty="0" err="1"/>
              <a:t>harici</a:t>
            </a:r>
            <a:r>
              <a:rPr lang="en-US" altLang="en-US" dirty="0"/>
              <a:t> </a:t>
            </a:r>
            <a:r>
              <a:rPr lang="en-US" altLang="en-US" dirty="0" err="1"/>
              <a:t>tüm</a:t>
            </a:r>
            <a:r>
              <a:rPr lang="en-US" altLang="en-US" dirty="0"/>
              <a:t> </a:t>
            </a:r>
            <a:r>
              <a:rPr lang="en-US" altLang="en-US" dirty="0" err="1"/>
              <a:t>düğümlere</a:t>
            </a:r>
            <a:r>
              <a:rPr lang="en-US" altLang="en-US" dirty="0"/>
              <a:t> K.A.K </a:t>
            </a:r>
            <a:r>
              <a:rPr lang="en-US" altLang="en-US" dirty="0" err="1"/>
              <a:t>uygula</a:t>
            </a:r>
            <a:r>
              <a:rPr lang="en-US" altLang="en-US" dirty="0"/>
              <a:t>. Dal</a:t>
            </a:r>
            <a:r>
              <a:rPr lang="tr-TR" altLang="en-US" dirty="0"/>
              <a:t> </a:t>
            </a:r>
            <a:r>
              <a:rPr lang="en-US" altLang="en-US" dirty="0" err="1"/>
              <a:t>akımlarını</a:t>
            </a:r>
            <a:r>
              <a:rPr lang="en-US" altLang="en-US" dirty="0"/>
              <a:t> </a:t>
            </a:r>
            <a:r>
              <a:rPr lang="en-US" altLang="en-US" dirty="0" err="1"/>
              <a:t>düğüm</a:t>
            </a:r>
            <a:r>
              <a:rPr lang="en-US" altLang="en-US" dirty="0"/>
              <a:t> </a:t>
            </a:r>
            <a:r>
              <a:rPr lang="en-US" altLang="en-US" dirty="0" err="1"/>
              <a:t>gerilimleri</a:t>
            </a:r>
            <a:r>
              <a:rPr lang="en-US" altLang="en-US" dirty="0"/>
              <a:t> </a:t>
            </a:r>
            <a:r>
              <a:rPr lang="en-US" altLang="en-US" dirty="0" err="1"/>
              <a:t>cinsinden</a:t>
            </a:r>
            <a:r>
              <a:rPr lang="en-US" altLang="en-US" dirty="0"/>
              <a:t> Ohm </a:t>
            </a:r>
            <a:r>
              <a:rPr lang="en-US" altLang="en-US" dirty="0" err="1"/>
              <a:t>Kanunu</a:t>
            </a:r>
            <a:r>
              <a:rPr lang="en-US" altLang="en-US" dirty="0"/>
              <a:t> </a:t>
            </a:r>
            <a:r>
              <a:rPr lang="en-US" altLang="en-US" dirty="0" err="1"/>
              <a:t>kullanarak</a:t>
            </a:r>
            <a:r>
              <a:rPr lang="tr-TR" altLang="en-US" dirty="0"/>
              <a:t> </a:t>
            </a:r>
            <a:r>
              <a:rPr lang="en-US" altLang="en-US" dirty="0" err="1"/>
              <a:t>tanımla</a:t>
            </a:r>
            <a:r>
              <a:rPr lang="en-US" altLang="en-US" dirty="0"/>
              <a:t>.</a:t>
            </a:r>
          </a:p>
          <a:p>
            <a:pPr lvl="1"/>
            <a:r>
              <a:rPr lang="en-US" altLang="en-US" dirty="0"/>
              <a:t>3. </a:t>
            </a:r>
            <a:r>
              <a:rPr lang="en-US" altLang="en-US" dirty="0" err="1"/>
              <a:t>Elde</a:t>
            </a:r>
            <a:r>
              <a:rPr lang="en-US" altLang="en-US" dirty="0"/>
              <a:t> </a:t>
            </a:r>
            <a:r>
              <a:rPr lang="en-US" altLang="en-US" dirty="0" err="1"/>
              <a:t>edilen</a:t>
            </a:r>
            <a:r>
              <a:rPr lang="en-US" altLang="en-US" dirty="0"/>
              <a:t> (n-1) </a:t>
            </a:r>
            <a:r>
              <a:rPr lang="en-US" altLang="en-US" dirty="0" err="1"/>
              <a:t>bağımsız</a:t>
            </a:r>
            <a:r>
              <a:rPr lang="en-US" altLang="en-US" dirty="0"/>
              <a:t> </a:t>
            </a:r>
            <a:r>
              <a:rPr lang="en-US" altLang="en-US" dirty="0" err="1"/>
              <a:t>eşitlik</a:t>
            </a:r>
            <a:r>
              <a:rPr lang="en-US" altLang="en-US" dirty="0"/>
              <a:t> </a:t>
            </a:r>
            <a:r>
              <a:rPr lang="en-US" altLang="en-US" dirty="0" err="1"/>
              <a:t>kullanılarak</a:t>
            </a:r>
            <a:r>
              <a:rPr lang="en-US" altLang="en-US" dirty="0"/>
              <a:t> </a:t>
            </a:r>
            <a:r>
              <a:rPr lang="en-US" altLang="en-US" dirty="0" err="1"/>
              <a:t>düğüm</a:t>
            </a:r>
            <a:r>
              <a:rPr lang="tr-TR" altLang="en-US" dirty="0"/>
              <a:t> </a:t>
            </a:r>
            <a:r>
              <a:rPr lang="en-US" altLang="en-US" dirty="0" err="1"/>
              <a:t>gerilimleri</a:t>
            </a:r>
            <a:r>
              <a:rPr lang="en-US" altLang="en-US" dirty="0"/>
              <a:t> </a:t>
            </a:r>
            <a:r>
              <a:rPr lang="en-US" altLang="en-US" dirty="0" err="1"/>
              <a:t>çözülür</a:t>
            </a:r>
            <a:r>
              <a:rPr lang="tr-TR" altLang="en-US" dirty="0"/>
              <a:t>.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0181112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2CFD10F2-4B8A-4C68-9B54-521DC873F2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Düğüm Belirleme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0CBD59B-E8DB-4C93-A5E2-4F68BE09B1EC}"/>
              </a:ext>
            </a:extLst>
          </p:cNvPr>
          <p:cNvSpPr txBox="1">
            <a:spLocks noChangeArrowheads="1"/>
          </p:cNvSpPr>
          <p:nvPr/>
        </p:nvSpPr>
        <p:spPr>
          <a:xfrm>
            <a:off x="848055" y="1585973"/>
            <a:ext cx="8229600" cy="9755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33400" indent="-533400"/>
            <a:r>
              <a:rPr lang="en-US" altLang="en-US" dirty="0" err="1"/>
              <a:t>a,b,c</a:t>
            </a:r>
            <a:r>
              <a:rPr lang="en-US" altLang="en-US" dirty="0"/>
              <a:t> </a:t>
            </a:r>
            <a:r>
              <a:rPr lang="tr-TR" altLang="en-US" dirty="0"/>
              <a:t>düğümlerinin gerilimleri</a:t>
            </a:r>
            <a:r>
              <a:rPr lang="en-US" altLang="en-US" dirty="0"/>
              <a:t>?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D84A9FF-EB0E-462B-86E2-4649F87544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537" y="2300842"/>
            <a:ext cx="5295900" cy="273367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8BD3F5A-559A-4F63-B0D4-E1370D3FFC6D}"/>
                  </a:ext>
                </a:extLst>
              </p:cNvPr>
              <p:cNvSpPr txBox="1"/>
              <p:nvPr/>
            </p:nvSpPr>
            <p:spPr>
              <a:xfrm>
                <a:off x="1925955" y="5196007"/>
                <a:ext cx="2386935" cy="16619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tr-T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tr-TR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tr-TR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r>
                        <a:rPr lang="tr-TR" b="0" i="1" smtClean="0">
                          <a:latin typeface="Cambria Math" panose="02040503050406030204" pitchFamily="18" charset="0"/>
                        </a:rPr>
                        <m:t>=6</m:t>
                      </m:r>
                      <m:r>
                        <a:rPr lang="tr-TR" b="0" i="1" smtClean="0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tr-TR" b="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tr-T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tr-TR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tr-TR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a:rPr lang="tr-TR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tr-TR" b="0" i="1" smtClean="0">
                        <a:latin typeface="Cambria Math" panose="02040503050406030204" pitchFamily="18" charset="0"/>
                      </a:rPr>
                      <m:t>?</m:t>
                    </m:r>
                  </m:oMath>
                </a14:m>
                <a:r>
                  <a:rPr lang="tr-TR" dirty="0"/>
                  <a:t> DGY ile bulunabilir.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tr-T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tr-TR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tr-TR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tr-TR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tr-TR" b="0" i="1" smtClean="0">
                          <a:latin typeface="Cambria Math" panose="02040503050406030204" pitchFamily="18" charset="0"/>
                        </a:rPr>
                        <m:t>12</m:t>
                      </m:r>
                      <m:r>
                        <a:rPr lang="tr-TR" i="1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tr-TR" dirty="0"/>
              </a:p>
              <a:p>
                <a:endParaRPr lang="tr-TR" dirty="0"/>
              </a:p>
              <a:p>
                <a:endParaRPr lang="tr-TR" dirty="0"/>
              </a:p>
              <a:p>
                <a:endParaRPr lang="tr-TR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8BD3F5A-559A-4F63-B0D4-E1370D3FFC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5955" y="5196007"/>
                <a:ext cx="2386935" cy="1661993"/>
              </a:xfrm>
              <a:prstGeom prst="rect">
                <a:avLst/>
              </a:prstGeom>
              <a:blipFill>
                <a:blip r:embed="rId3"/>
                <a:stretch>
                  <a:fillRect l="-3581" r="-5882"/>
                </a:stretch>
              </a:blipFill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9794BAC1-E127-4838-A967-C5349445A8D0}"/>
              </a:ext>
            </a:extLst>
          </p:cNvPr>
          <p:cNvSpPr txBox="1"/>
          <p:nvPr/>
        </p:nvSpPr>
        <p:spPr>
          <a:xfrm>
            <a:off x="7612380" y="2457450"/>
            <a:ext cx="394293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dirty="0"/>
              <a:t>Referans düğüm belirlenir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dirty="0"/>
              <a:t>Kalan düğümlerin voltajları belirlenir.</a:t>
            </a:r>
          </a:p>
        </p:txBody>
      </p:sp>
    </p:spTree>
    <p:extLst>
      <p:ext uri="{BB962C8B-B14F-4D97-AF65-F5344CB8AC3E}">
        <p14:creationId xmlns:p14="http://schemas.microsoft.com/office/powerpoint/2010/main" val="5604588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28BCE502-9C3B-4E2B-B5B0-EA97131215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/>
              <a:t>Dal </a:t>
            </a:r>
            <a:r>
              <a:rPr lang="en-US" altLang="en-US" b="1" dirty="0" err="1"/>
              <a:t>Akımları</a:t>
            </a:r>
            <a:r>
              <a:rPr lang="en-US" altLang="en-US" b="1" dirty="0"/>
              <a:t> </a:t>
            </a:r>
            <a:r>
              <a:rPr lang="en-US" altLang="en-US" b="1" dirty="0" err="1"/>
              <a:t>için</a:t>
            </a:r>
            <a:r>
              <a:rPr lang="en-US" altLang="en-US" b="1" dirty="0"/>
              <a:t> </a:t>
            </a:r>
            <a:r>
              <a:rPr lang="en-US" altLang="en-US" b="1" dirty="0" err="1"/>
              <a:t>Denklemler</a:t>
            </a:r>
            <a:r>
              <a:rPr lang="tr-TR" altLang="en-US" b="1" dirty="0"/>
              <a:t>in</a:t>
            </a:r>
            <a:r>
              <a:rPr lang="en-US" altLang="en-US" b="1" dirty="0"/>
              <a:t> </a:t>
            </a:r>
            <a:r>
              <a:rPr lang="en-US" altLang="en-US" b="1" dirty="0" err="1"/>
              <a:t>Yazı</a:t>
            </a:r>
            <a:r>
              <a:rPr lang="tr-TR" altLang="en-US" b="1" dirty="0"/>
              <a:t>lması</a:t>
            </a:r>
            <a:endParaRPr lang="en-US" dirty="0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5282AC54-51FB-4A94-AE79-A966A04EB374}"/>
              </a:ext>
            </a:extLst>
          </p:cNvPr>
          <p:cNvSpPr txBox="1">
            <a:spLocks noChangeArrowheads="1"/>
          </p:cNvSpPr>
          <p:nvPr/>
        </p:nvSpPr>
        <p:spPr>
          <a:xfrm>
            <a:off x="682283" y="1690688"/>
            <a:ext cx="10751234" cy="29441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39725" indent="-339725"/>
            <a:r>
              <a:rPr lang="en-US" altLang="en-US" sz="2400" dirty="0" err="1"/>
              <a:t>Düğüm</a:t>
            </a:r>
            <a:r>
              <a:rPr lang="en-US" altLang="en-US" sz="2400" dirty="0"/>
              <a:t> </a:t>
            </a:r>
            <a:r>
              <a:rPr lang="en-US" altLang="en-US" sz="2400" dirty="0" err="1"/>
              <a:t>analizinde</a:t>
            </a:r>
            <a:r>
              <a:rPr lang="en-US" altLang="en-US" sz="2400" dirty="0"/>
              <a:t>, </a:t>
            </a:r>
            <a:r>
              <a:rPr lang="en-US" altLang="en-US" sz="2400" dirty="0" err="1"/>
              <a:t>genellikle</a:t>
            </a:r>
            <a:r>
              <a:rPr lang="en-US" altLang="en-US" sz="2400" dirty="0"/>
              <a:t> dal </a:t>
            </a:r>
            <a:r>
              <a:rPr lang="en-US" altLang="en-US" sz="2400" dirty="0" err="1"/>
              <a:t>akımlarını</a:t>
            </a:r>
            <a:r>
              <a:rPr lang="en-US" altLang="en-US" sz="2400" dirty="0"/>
              <a:t> </a:t>
            </a:r>
            <a:r>
              <a:rPr lang="en-US" altLang="en-US" sz="2400" dirty="0" err="1"/>
              <a:t>doğrudan</a:t>
            </a:r>
            <a:r>
              <a:rPr lang="en-US" altLang="en-US" sz="2400" dirty="0"/>
              <a:t> </a:t>
            </a:r>
            <a:r>
              <a:rPr lang="en-US" altLang="en-US" sz="2400" dirty="0" err="1"/>
              <a:t>düğüm</a:t>
            </a:r>
            <a:r>
              <a:rPr lang="en-US" altLang="en-US" sz="2400" dirty="0"/>
              <a:t> </a:t>
            </a:r>
            <a:r>
              <a:rPr lang="en-US" altLang="en-US" sz="2400" dirty="0" err="1"/>
              <a:t>voltajları</a:t>
            </a:r>
            <a:r>
              <a:rPr lang="en-US" altLang="en-US" sz="2400" dirty="0"/>
              <a:t> </a:t>
            </a:r>
            <a:r>
              <a:rPr lang="en-US" altLang="en-US" sz="2400" dirty="0" err="1"/>
              <a:t>ve</a:t>
            </a:r>
            <a:r>
              <a:rPr lang="en-US" altLang="en-US" sz="2400" dirty="0"/>
              <a:t> dal </a:t>
            </a:r>
            <a:r>
              <a:rPr lang="en-US" altLang="en-US" sz="2400" dirty="0" err="1"/>
              <a:t>dirençleri</a:t>
            </a:r>
            <a:r>
              <a:rPr lang="en-US" altLang="en-US" sz="2400" dirty="0"/>
              <a:t> </a:t>
            </a:r>
            <a:r>
              <a:rPr lang="en-US" altLang="en-US" sz="2400" dirty="0" err="1"/>
              <a:t>cinsinden</a:t>
            </a:r>
            <a:r>
              <a:rPr lang="en-US" altLang="en-US" sz="2400" dirty="0"/>
              <a:t> </a:t>
            </a:r>
            <a:r>
              <a:rPr lang="en-US" altLang="en-US" sz="2400" dirty="0" err="1"/>
              <a:t>yazarız</a:t>
            </a:r>
            <a:r>
              <a:rPr lang="en-US" altLang="en-US" sz="2400" dirty="0"/>
              <a:t>.</a:t>
            </a:r>
          </a:p>
          <a:p>
            <a:pPr marL="339725" indent="-339725"/>
            <a:r>
              <a:rPr lang="en-US" altLang="en-US" sz="2400" dirty="0" err="1"/>
              <a:t>Kutupluluğun</a:t>
            </a:r>
            <a:r>
              <a:rPr lang="en-US" altLang="en-US" sz="2400" dirty="0"/>
              <a:t> </a:t>
            </a:r>
            <a:r>
              <a:rPr lang="en-US" altLang="en-US" sz="2400" dirty="0" err="1"/>
              <a:t>doğru</a:t>
            </a:r>
            <a:r>
              <a:rPr lang="en-US" altLang="en-US" sz="2400" dirty="0"/>
              <a:t> </a:t>
            </a:r>
            <a:r>
              <a:rPr lang="en-US" altLang="en-US" sz="2400" dirty="0" err="1"/>
              <a:t>tutulmasına</a:t>
            </a:r>
            <a:r>
              <a:rPr lang="en-US" altLang="en-US" sz="2400" dirty="0"/>
              <a:t> </a:t>
            </a:r>
            <a:r>
              <a:rPr lang="en-US" altLang="en-US" sz="2400" dirty="0" err="1"/>
              <a:t>dikkat</a:t>
            </a:r>
            <a:r>
              <a:rPr lang="en-US" altLang="en-US" sz="2400" dirty="0"/>
              <a:t> </a:t>
            </a:r>
            <a:r>
              <a:rPr lang="en-US" altLang="en-US" sz="2400" dirty="0" err="1"/>
              <a:t>edilmelidir</a:t>
            </a:r>
            <a:r>
              <a:rPr lang="en-US" altLang="en-US" sz="2400" dirty="0"/>
              <a:t>!</a:t>
            </a:r>
          </a:p>
          <a:p>
            <a:pPr marL="339725" indent="-339725"/>
            <a:r>
              <a:rPr lang="en-US" altLang="en-US" sz="2400" dirty="0"/>
              <a:t>Her </a:t>
            </a:r>
            <a:r>
              <a:rPr lang="en-US" altLang="en-US" sz="2400" dirty="0" err="1"/>
              <a:t>düğümden</a:t>
            </a:r>
            <a:r>
              <a:rPr lang="en-US" altLang="en-US" sz="2400" dirty="0"/>
              <a:t> </a:t>
            </a:r>
            <a:r>
              <a:rPr lang="en-US" altLang="en-US" sz="2400" dirty="0" err="1"/>
              <a:t>akımın</a:t>
            </a:r>
            <a:r>
              <a:rPr lang="en-US" altLang="en-US" sz="2400" dirty="0"/>
              <a:t> her zaman </a:t>
            </a:r>
            <a:r>
              <a:rPr lang="en-US" altLang="en-US" sz="2400" dirty="0" err="1"/>
              <a:t>keyfi</a:t>
            </a:r>
            <a:r>
              <a:rPr lang="en-US" altLang="en-US" sz="2400" dirty="0"/>
              <a:t> </a:t>
            </a:r>
            <a:r>
              <a:rPr lang="en-US" altLang="en-US" sz="2400" dirty="0" err="1"/>
              <a:t>olarak</a:t>
            </a:r>
            <a:r>
              <a:rPr lang="en-US" altLang="en-US" sz="2400" dirty="0"/>
              <a:t> </a:t>
            </a:r>
            <a:r>
              <a:rPr lang="en-US" altLang="en-US" sz="2400" dirty="0" err="1"/>
              <a:t>ayrıldığını</a:t>
            </a:r>
            <a:r>
              <a:rPr lang="en-US" altLang="en-US" sz="2400" dirty="0"/>
              <a:t> </a:t>
            </a:r>
            <a:r>
              <a:rPr lang="en-US" altLang="en-US" sz="2400" dirty="0" err="1"/>
              <a:t>varsayarak</a:t>
            </a:r>
            <a:r>
              <a:rPr lang="en-US" altLang="en-US" sz="2400" dirty="0"/>
              <a:t> </a:t>
            </a:r>
            <a:r>
              <a:rPr lang="tr-TR" altLang="en-US" sz="2400" dirty="0"/>
              <a:t>problemi</a:t>
            </a:r>
            <a:r>
              <a:rPr lang="en-US" altLang="en-US" sz="2400" dirty="0"/>
              <a:t> </a:t>
            </a:r>
            <a:r>
              <a:rPr lang="en-US" altLang="en-US" sz="2400" dirty="0" err="1"/>
              <a:t>biraz</a:t>
            </a:r>
            <a:r>
              <a:rPr lang="en-US" altLang="en-US" sz="2400" dirty="0"/>
              <a:t> </a:t>
            </a:r>
            <a:r>
              <a:rPr lang="en-US" altLang="en-US" sz="2400" dirty="0" err="1"/>
              <a:t>daha</a:t>
            </a:r>
            <a:r>
              <a:rPr lang="en-US" altLang="en-US" sz="2400" dirty="0"/>
              <a:t> </a:t>
            </a:r>
            <a:r>
              <a:rPr lang="en-US" altLang="en-US" sz="2400" dirty="0" err="1"/>
              <a:t>kolaylaştırabiliriz</a:t>
            </a:r>
            <a:r>
              <a:rPr lang="en-US" altLang="en-US" sz="2400" dirty="0"/>
              <a:t>.</a:t>
            </a:r>
            <a:r>
              <a:rPr lang="tr-TR" altLang="en-US" sz="2400" dirty="0"/>
              <a:t> </a:t>
            </a:r>
            <a:r>
              <a:rPr lang="en-US" altLang="en-US" sz="2400" dirty="0"/>
              <a:t>Bu, </a:t>
            </a:r>
            <a:r>
              <a:rPr lang="en-US" altLang="en-US" sz="2400" dirty="0" err="1"/>
              <a:t>ortaya</a:t>
            </a:r>
            <a:r>
              <a:rPr lang="en-US" altLang="en-US" sz="2400" dirty="0"/>
              <a:t> </a:t>
            </a:r>
            <a:r>
              <a:rPr lang="en-US" altLang="en-US" sz="2400" dirty="0" err="1"/>
              <a:t>çıkan</a:t>
            </a:r>
            <a:r>
              <a:rPr lang="en-US" altLang="en-US" sz="2400" dirty="0"/>
              <a:t> </a:t>
            </a:r>
            <a:r>
              <a:rPr lang="en-US" altLang="en-US" sz="2400" dirty="0" err="1"/>
              <a:t>denklemleri</a:t>
            </a:r>
            <a:r>
              <a:rPr lang="en-US" altLang="en-US" sz="2400" dirty="0"/>
              <a:t> </a:t>
            </a:r>
            <a:r>
              <a:rPr lang="en-US" altLang="en-US" sz="2400" dirty="0" err="1"/>
              <a:t>yazmayı</a:t>
            </a:r>
            <a:r>
              <a:rPr lang="en-US" altLang="en-US" sz="2400" dirty="0"/>
              <a:t> </a:t>
            </a:r>
            <a:r>
              <a:rPr lang="en-US" altLang="en-US" sz="2400" dirty="0" err="1"/>
              <a:t>basitleştirir</a:t>
            </a:r>
            <a:r>
              <a:rPr lang="en-US" altLang="en-US" sz="2400" dirty="0"/>
              <a:t> </a:t>
            </a:r>
            <a:r>
              <a:rPr lang="en-US" altLang="en-US" sz="2400" dirty="0" err="1"/>
              <a:t>ve</a:t>
            </a:r>
            <a:r>
              <a:rPr lang="en-US" altLang="en-US" sz="2400" dirty="0"/>
              <a:t> </a:t>
            </a:r>
            <a:r>
              <a:rPr lang="en-US" altLang="en-US" sz="2400" dirty="0" err="1"/>
              <a:t>kutupluluk</a:t>
            </a:r>
            <a:r>
              <a:rPr lang="en-US" altLang="en-US" sz="2400" dirty="0"/>
              <a:t> </a:t>
            </a:r>
            <a:r>
              <a:rPr lang="en-US" altLang="en-US" sz="2400" dirty="0" err="1"/>
              <a:t>hatalarını</a:t>
            </a:r>
            <a:r>
              <a:rPr lang="en-US" altLang="en-US" sz="2400" dirty="0"/>
              <a:t> </a:t>
            </a:r>
            <a:r>
              <a:rPr lang="en-US" altLang="en-US" sz="2400" dirty="0" err="1"/>
              <a:t>önler</a:t>
            </a:r>
            <a:r>
              <a:rPr lang="en-US" altLang="en-US" sz="2400" dirty="0"/>
              <a:t>.</a:t>
            </a:r>
            <a:endParaRPr lang="en-US" altLang="en-US" sz="2000" dirty="0"/>
          </a:p>
        </p:txBody>
      </p:sp>
      <p:pic>
        <p:nvPicPr>
          <p:cNvPr id="9" name="Picture 4">
            <a:extLst>
              <a:ext uri="{FF2B5EF4-FFF2-40B4-BE49-F238E27FC236}">
                <a16:creationId xmlns:a16="http://schemas.microsoft.com/office/drawing/2014/main" id="{E78633A6-2FDE-4CD4-889C-8C62BF9762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8483" y="4662488"/>
            <a:ext cx="4290065" cy="2211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4">
            <a:extLst>
              <a:ext uri="{FF2B5EF4-FFF2-40B4-BE49-F238E27FC236}">
                <a16:creationId xmlns:a16="http://schemas.microsoft.com/office/drawing/2014/main" id="{D6980BE6-B74F-4202-A744-41D50D9292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8483" y="4634883"/>
            <a:ext cx="4387850" cy="2206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1" name="Object 3">
            <a:extLst>
              <a:ext uri="{FF2B5EF4-FFF2-40B4-BE49-F238E27FC236}">
                <a16:creationId xmlns:a16="http://schemas.microsoft.com/office/drawing/2014/main" id="{7BC07896-B497-4072-B8CA-3C94B44CC85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22609989"/>
              </p:ext>
            </p:extLst>
          </p:nvPr>
        </p:nvGraphicFramePr>
        <p:xfrm>
          <a:off x="5404942" y="4143449"/>
          <a:ext cx="3052762" cy="2570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523880" imgH="1282680" progId="Equation.DSMT4">
                  <p:embed/>
                </p:oleObj>
              </mc:Choice>
              <mc:Fallback>
                <p:oleObj name="Equation" r:id="rId4" imgW="1523880" imgH="1282680" progId="Equation.DSMT4">
                  <p:embed/>
                  <p:pic>
                    <p:nvPicPr>
                      <p:cNvPr id="6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04942" y="4143449"/>
                        <a:ext cx="3052762" cy="2570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790290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B0F5247-1EFA-4C3C-BC26-7E792D94D3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altLang="en-US" b="1" dirty="0"/>
              <a:t>K.A.K. Uygulanması</a:t>
            </a:r>
            <a:endParaRPr lang="en-US" dirty="0"/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57E63C63-F318-4BBB-B339-59CC75340AF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36514378"/>
              </p:ext>
            </p:extLst>
          </p:nvPr>
        </p:nvGraphicFramePr>
        <p:xfrm>
          <a:off x="5094288" y="4421188"/>
          <a:ext cx="4646612" cy="186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184120" imgH="876240" progId="Equation.DSMT4">
                  <p:embed/>
                </p:oleObj>
              </mc:Choice>
              <mc:Fallback>
                <p:oleObj name="Equation" r:id="rId2" imgW="2184120" imgH="876240" progId="Equation.DSMT4">
                  <p:embed/>
                  <p:pic>
                    <p:nvPicPr>
                      <p:cNvPr id="999427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94288" y="4421188"/>
                        <a:ext cx="4646612" cy="1863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03043021-F8D2-4396-9EE9-482AF7DF75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2075" y="1831145"/>
            <a:ext cx="4387850" cy="2206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6" name="Object 3">
            <a:extLst>
              <a:ext uri="{FF2B5EF4-FFF2-40B4-BE49-F238E27FC236}">
                <a16:creationId xmlns:a16="http://schemas.microsoft.com/office/drawing/2014/main" id="{80EF3974-8662-4546-88A6-0A669355D6D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17081437"/>
              </p:ext>
            </p:extLst>
          </p:nvPr>
        </p:nvGraphicFramePr>
        <p:xfrm>
          <a:off x="1828800" y="4421945"/>
          <a:ext cx="2311727" cy="1946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523880" imgH="1282680" progId="Equation.DSMT4">
                  <p:embed/>
                </p:oleObj>
              </mc:Choice>
              <mc:Fallback>
                <p:oleObj name="Equation" r:id="rId5" imgW="1523880" imgH="1282680" progId="Equation.DSMT4">
                  <p:embed/>
                  <p:pic>
                    <p:nvPicPr>
                      <p:cNvPr id="5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4421945"/>
                        <a:ext cx="2311727" cy="1946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ight Arrow 1">
            <a:extLst>
              <a:ext uri="{FF2B5EF4-FFF2-40B4-BE49-F238E27FC236}">
                <a16:creationId xmlns:a16="http://schemas.microsoft.com/office/drawing/2014/main" id="{24543114-A29A-466F-AFF4-01C44C258BAF}"/>
              </a:ext>
            </a:extLst>
          </p:cNvPr>
          <p:cNvSpPr/>
          <p:nvPr/>
        </p:nvSpPr>
        <p:spPr>
          <a:xfrm>
            <a:off x="4254827" y="5107745"/>
            <a:ext cx="507673" cy="381000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401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8B15078-59BD-45FA-82F4-85BFA72BCB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altLang="en-US" b="1" dirty="0"/>
              <a:t>K.A.K. Uygulanması</a:t>
            </a:r>
            <a:endParaRPr lang="en-US" dirty="0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A7D95BF1-63FA-4326-8EDA-0CCFB31A8D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4117" y="3541542"/>
            <a:ext cx="4905375" cy="2466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5" name="Object 3">
            <a:extLst>
              <a:ext uri="{FF2B5EF4-FFF2-40B4-BE49-F238E27FC236}">
                <a16:creationId xmlns:a16="http://schemas.microsoft.com/office/drawing/2014/main" id="{F91824D5-C735-4C36-ABCE-42019E80FD5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07562991"/>
              </p:ext>
            </p:extLst>
          </p:nvPr>
        </p:nvGraphicFramePr>
        <p:xfrm>
          <a:off x="4956517" y="2035832"/>
          <a:ext cx="4470400" cy="39726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743200" imgH="2438280" progId="Equation.DSMT4">
                  <p:embed/>
                </p:oleObj>
              </mc:Choice>
              <mc:Fallback>
                <p:oleObj name="Equation" r:id="rId3" imgW="2743200" imgH="2438280" progId="Equation.DSMT4">
                  <p:embed/>
                  <p:pic>
                    <p:nvPicPr>
                      <p:cNvPr id="991235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6517" y="2035832"/>
                        <a:ext cx="4470400" cy="397268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1">
            <a:extLst>
              <a:ext uri="{FF2B5EF4-FFF2-40B4-BE49-F238E27FC236}">
                <a16:creationId xmlns:a16="http://schemas.microsoft.com/office/drawing/2014/main" id="{0DCD166F-4FE7-4C6F-871B-959E6DBD6613}"/>
              </a:ext>
            </a:extLst>
          </p:cNvPr>
          <p:cNvSpPr/>
          <p:nvPr/>
        </p:nvSpPr>
        <p:spPr>
          <a:xfrm>
            <a:off x="7547317" y="5616728"/>
            <a:ext cx="1371600" cy="381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64719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EAEC17C-6A14-47FC-AB61-9B4A46372B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Örnek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DCE13BA-A454-4281-9ED5-80414A2C5495}"/>
              </a:ext>
            </a:extLst>
          </p:cNvPr>
          <p:cNvSpPr txBox="1">
            <a:spLocks noChangeArrowheads="1"/>
          </p:cNvSpPr>
          <p:nvPr/>
        </p:nvSpPr>
        <p:spPr>
          <a:xfrm>
            <a:off x="2036980" y="1333956"/>
            <a:ext cx="3352800" cy="609600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tr-TR" altLang="en-US" sz="2400" dirty="0">
                <a:latin typeface="Times New Roman" panose="02020603050405020304" pitchFamily="18" charset="0"/>
              </a:rPr>
              <a:t>DGY kullanarak </a:t>
            </a:r>
            <a:r>
              <a:rPr lang="en-US" altLang="en-US" sz="2400" dirty="0" err="1"/>
              <a:t>V</a:t>
            </a:r>
            <a:r>
              <a:rPr lang="en-US" altLang="en-US" sz="2400" baseline="-25000" dirty="0" err="1"/>
              <a:t>b</a:t>
            </a:r>
            <a:r>
              <a:rPr lang="en-US" altLang="en-US" sz="2400" baseline="-25000" dirty="0"/>
              <a:t> </a:t>
            </a:r>
            <a:r>
              <a:rPr lang="tr-TR" altLang="en-US" sz="2400" dirty="0">
                <a:latin typeface="Times New Roman" panose="02020603050405020304" pitchFamily="18" charset="0"/>
              </a:rPr>
              <a:t>bulalım.</a:t>
            </a:r>
            <a:endParaRPr lang="en-US" altLang="en-US" sz="2400" dirty="0">
              <a:latin typeface="Times New Roman" panose="02020603050405020304" pitchFamily="18" charset="0"/>
            </a:endParaRPr>
          </a:p>
        </p:txBody>
      </p:sp>
      <p:pic>
        <p:nvPicPr>
          <p:cNvPr id="5" name="Picture 7">
            <a:extLst>
              <a:ext uri="{FF2B5EF4-FFF2-40B4-BE49-F238E27FC236}">
                <a16:creationId xmlns:a16="http://schemas.microsoft.com/office/drawing/2014/main" id="{E7143105-61CE-4853-8DC4-219DC3610C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96207" y="1531993"/>
            <a:ext cx="3475037" cy="21143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6" name="Straight Arrow Connector 2">
            <a:extLst>
              <a:ext uri="{FF2B5EF4-FFF2-40B4-BE49-F238E27FC236}">
                <a16:creationId xmlns:a16="http://schemas.microsoft.com/office/drawing/2014/main" id="{FF3AF869-0D37-4235-BCA6-D9F713025BA6}"/>
              </a:ext>
            </a:extLst>
          </p:cNvPr>
          <p:cNvCxnSpPr/>
          <p:nvPr/>
        </p:nvCxnSpPr>
        <p:spPr>
          <a:xfrm>
            <a:off x="8771336" y="2116971"/>
            <a:ext cx="76200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5197F08-4E01-4286-BF53-82BC4F32D6E4}"/>
              </a:ext>
            </a:extLst>
          </p:cNvPr>
          <p:cNvCxnSpPr/>
          <p:nvPr/>
        </p:nvCxnSpPr>
        <p:spPr>
          <a:xfrm flipH="1">
            <a:off x="7794394" y="2116971"/>
            <a:ext cx="72390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FD993CF-A098-4B2D-92FF-11CAF54A89DE}"/>
              </a:ext>
            </a:extLst>
          </p:cNvPr>
          <p:cNvCxnSpPr/>
          <p:nvPr/>
        </p:nvCxnSpPr>
        <p:spPr>
          <a:xfrm>
            <a:off x="8786446" y="2235312"/>
            <a:ext cx="0" cy="76200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7D2908E2-E246-4B33-BA42-FC5B1B9E79B2}"/>
              </a:ext>
            </a:extLst>
          </p:cNvPr>
          <p:cNvSpPr txBox="1"/>
          <p:nvPr/>
        </p:nvSpPr>
        <p:spPr>
          <a:xfrm>
            <a:off x="2036980" y="3120892"/>
            <a:ext cx="2667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dirty="0">
                <a:solidFill>
                  <a:schemeClr val="accent6">
                    <a:lumMod val="50000"/>
                  </a:schemeClr>
                </a:solidFill>
              </a:rPr>
              <a:t>b düğümü etrafındaki akımlar çizilir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.</a:t>
            </a:r>
          </a:p>
        </p:txBody>
      </p:sp>
      <p:graphicFrame>
        <p:nvGraphicFramePr>
          <p:cNvPr id="10" name="Object 8">
            <a:extLst>
              <a:ext uri="{FF2B5EF4-FFF2-40B4-BE49-F238E27FC236}">
                <a16:creationId xmlns:a16="http://schemas.microsoft.com/office/drawing/2014/main" id="{73C28FD1-7F0A-4BFC-8A04-0C8D2E1CF46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7727287"/>
              </p:ext>
            </p:extLst>
          </p:nvPr>
        </p:nvGraphicFramePr>
        <p:xfrm>
          <a:off x="2625725" y="2130425"/>
          <a:ext cx="833438" cy="1000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571320" imgH="685800" progId="Equation.DSMT4">
                  <p:embed/>
                </p:oleObj>
              </mc:Choice>
              <mc:Fallback>
                <p:oleObj name="Equation" r:id="rId3" imgW="571320" imgH="685800" progId="Equation.DSMT4">
                  <p:embed/>
                  <p:pic>
                    <p:nvPicPr>
                      <p:cNvPr id="13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5725" y="2130425"/>
                        <a:ext cx="833438" cy="1000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Box 13">
            <a:extLst>
              <a:ext uri="{FF2B5EF4-FFF2-40B4-BE49-F238E27FC236}">
                <a16:creationId xmlns:a16="http://schemas.microsoft.com/office/drawing/2014/main" id="{D709BB7F-86D0-41B8-A8E5-72BD10F0A532}"/>
              </a:ext>
            </a:extLst>
          </p:cNvPr>
          <p:cNvSpPr txBox="1"/>
          <p:nvPr/>
        </p:nvSpPr>
        <p:spPr>
          <a:xfrm>
            <a:off x="2036980" y="1758890"/>
            <a:ext cx="2667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dirty="0">
                <a:solidFill>
                  <a:schemeClr val="accent6">
                    <a:lumMod val="50000"/>
                  </a:schemeClr>
                </a:solidFill>
              </a:rPr>
              <a:t>Düğümler belirlenir:</a:t>
            </a:r>
            <a:endParaRPr lang="en-US" dirty="0">
              <a:solidFill>
                <a:schemeClr val="accent6">
                  <a:lumMod val="50000"/>
                </a:schemeClr>
              </a:solidFill>
            </a:endParaRPr>
          </a:p>
        </p:txBody>
      </p:sp>
      <p:graphicFrame>
        <p:nvGraphicFramePr>
          <p:cNvPr id="12" name="Object 3">
            <a:extLst>
              <a:ext uri="{FF2B5EF4-FFF2-40B4-BE49-F238E27FC236}">
                <a16:creationId xmlns:a16="http://schemas.microsoft.com/office/drawing/2014/main" id="{60E6E0CE-A028-4B02-B205-8DA43BDAEE8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19114838"/>
              </p:ext>
            </p:extLst>
          </p:nvPr>
        </p:nvGraphicFramePr>
        <p:xfrm>
          <a:off x="3429084" y="3990423"/>
          <a:ext cx="2136775" cy="1671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638000" imgH="1282680" progId="Equation.DSMT4">
                  <p:embed/>
                </p:oleObj>
              </mc:Choice>
              <mc:Fallback>
                <p:oleObj name="Equation" r:id="rId5" imgW="1638000" imgH="1282680" progId="Equation.DSMT4">
                  <p:embed/>
                  <p:pic>
                    <p:nvPicPr>
                      <p:cNvPr id="15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84" y="3990423"/>
                        <a:ext cx="2136775" cy="1671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Box 16">
            <a:extLst>
              <a:ext uri="{FF2B5EF4-FFF2-40B4-BE49-F238E27FC236}">
                <a16:creationId xmlns:a16="http://schemas.microsoft.com/office/drawing/2014/main" id="{9F1DFE84-34CE-4B9F-A231-E59B8E44B870}"/>
              </a:ext>
            </a:extLst>
          </p:cNvPr>
          <p:cNvSpPr txBox="1"/>
          <p:nvPr/>
        </p:nvSpPr>
        <p:spPr>
          <a:xfrm>
            <a:off x="2036980" y="3713424"/>
            <a:ext cx="2667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dirty="0">
                <a:solidFill>
                  <a:schemeClr val="accent6">
                    <a:lumMod val="50000"/>
                  </a:schemeClr>
                </a:solidFill>
              </a:rPr>
              <a:t>Denklemler yazılır;</a:t>
            </a:r>
            <a:endParaRPr lang="en-US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4" name="TextBox 9">
            <a:extLst>
              <a:ext uri="{FF2B5EF4-FFF2-40B4-BE49-F238E27FC236}">
                <a16:creationId xmlns:a16="http://schemas.microsoft.com/office/drawing/2014/main" id="{79A4F498-B47F-4E88-9C40-E82A212CF891}"/>
              </a:ext>
            </a:extLst>
          </p:cNvPr>
          <p:cNvSpPr txBox="1"/>
          <p:nvPr/>
        </p:nvSpPr>
        <p:spPr>
          <a:xfrm>
            <a:off x="7824655" y="2128222"/>
            <a:ext cx="381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400" dirty="0">
                <a:solidFill>
                  <a:srgbClr val="FF0000"/>
                </a:solidFill>
              </a:rPr>
              <a:t>i</a:t>
            </a:r>
            <a:r>
              <a:rPr lang="en-US" sz="1400" baseline="-25000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15" name="TextBox 18">
            <a:extLst>
              <a:ext uri="{FF2B5EF4-FFF2-40B4-BE49-F238E27FC236}">
                <a16:creationId xmlns:a16="http://schemas.microsoft.com/office/drawing/2014/main" id="{2F1E1F49-8D8F-47B2-B16E-D6D65168B9CF}"/>
              </a:ext>
            </a:extLst>
          </p:cNvPr>
          <p:cNvSpPr txBox="1"/>
          <p:nvPr/>
        </p:nvSpPr>
        <p:spPr>
          <a:xfrm>
            <a:off x="9234257" y="2102221"/>
            <a:ext cx="381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400" dirty="0">
                <a:solidFill>
                  <a:srgbClr val="FF0000"/>
                </a:solidFill>
              </a:rPr>
              <a:t>i</a:t>
            </a:r>
            <a:r>
              <a:rPr lang="en-US" sz="1400" baseline="-25000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16" name="TextBox 19">
            <a:extLst>
              <a:ext uri="{FF2B5EF4-FFF2-40B4-BE49-F238E27FC236}">
                <a16:creationId xmlns:a16="http://schemas.microsoft.com/office/drawing/2014/main" id="{9DD2A9D1-B003-436C-AF58-CF442B06B6CE}"/>
              </a:ext>
            </a:extLst>
          </p:cNvPr>
          <p:cNvSpPr txBox="1"/>
          <p:nvPr/>
        </p:nvSpPr>
        <p:spPr>
          <a:xfrm>
            <a:off x="8786446" y="2741345"/>
            <a:ext cx="381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400" dirty="0">
                <a:solidFill>
                  <a:srgbClr val="FF0000"/>
                </a:solidFill>
              </a:rPr>
              <a:t>i</a:t>
            </a:r>
            <a:r>
              <a:rPr lang="en-US" sz="1400" baseline="-25000" dirty="0">
                <a:solidFill>
                  <a:srgbClr val="FF0000"/>
                </a:solidFill>
              </a:rPr>
              <a:t>2</a:t>
            </a:r>
          </a:p>
        </p:txBody>
      </p:sp>
      <p:graphicFrame>
        <p:nvGraphicFramePr>
          <p:cNvPr id="17" name="Object 3">
            <a:extLst>
              <a:ext uri="{FF2B5EF4-FFF2-40B4-BE49-F238E27FC236}">
                <a16:creationId xmlns:a16="http://schemas.microsoft.com/office/drawing/2014/main" id="{D09CBD4A-5FE3-4D10-A62B-19F45B2286B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39236734"/>
              </p:ext>
            </p:extLst>
          </p:nvPr>
        </p:nvGraphicFramePr>
        <p:xfrm>
          <a:off x="2442568" y="5894939"/>
          <a:ext cx="1997075" cy="495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688760" imgH="419040" progId="Equation.DSMT4">
                  <p:embed/>
                </p:oleObj>
              </mc:Choice>
              <mc:Fallback>
                <p:oleObj name="Equation" r:id="rId7" imgW="1688760" imgH="419040" progId="Equation.DSMT4">
                  <p:embed/>
                  <p:pic>
                    <p:nvPicPr>
                      <p:cNvPr id="22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42568" y="5894939"/>
                        <a:ext cx="1997075" cy="495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TextBox 22">
            <a:extLst>
              <a:ext uri="{FF2B5EF4-FFF2-40B4-BE49-F238E27FC236}">
                <a16:creationId xmlns:a16="http://schemas.microsoft.com/office/drawing/2014/main" id="{455A8942-8DDB-4336-905A-9539968195BF}"/>
              </a:ext>
            </a:extLst>
          </p:cNvPr>
          <p:cNvSpPr txBox="1"/>
          <p:nvPr/>
        </p:nvSpPr>
        <p:spPr>
          <a:xfrm>
            <a:off x="4445993" y="5957892"/>
            <a:ext cx="9042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=&gt;K</a:t>
            </a:r>
            <a:r>
              <a:rPr lang="tr-TR" dirty="0">
                <a:solidFill>
                  <a:srgbClr val="FF0000"/>
                </a:solidFill>
              </a:rPr>
              <a:t>.A.K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9" name="TextBox 23">
            <a:extLst>
              <a:ext uri="{FF2B5EF4-FFF2-40B4-BE49-F238E27FC236}">
                <a16:creationId xmlns:a16="http://schemas.microsoft.com/office/drawing/2014/main" id="{A7407A8E-15D0-4086-BDBC-74233C4C682E}"/>
              </a:ext>
            </a:extLst>
          </p:cNvPr>
          <p:cNvSpPr txBox="1"/>
          <p:nvPr/>
        </p:nvSpPr>
        <p:spPr>
          <a:xfrm>
            <a:off x="2154171" y="6346056"/>
            <a:ext cx="2667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dirty="0">
                <a:solidFill>
                  <a:schemeClr val="accent6">
                    <a:lumMod val="50000"/>
                  </a:schemeClr>
                </a:solidFill>
              </a:rPr>
              <a:t>Eşitlik çözülür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:</a:t>
            </a:r>
          </a:p>
        </p:txBody>
      </p:sp>
      <p:graphicFrame>
        <p:nvGraphicFramePr>
          <p:cNvPr id="20" name="Object 3">
            <a:extLst>
              <a:ext uri="{FF2B5EF4-FFF2-40B4-BE49-F238E27FC236}">
                <a16:creationId xmlns:a16="http://schemas.microsoft.com/office/drawing/2014/main" id="{C930A542-4AE6-48F0-A59A-AFD6090CC57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00080355"/>
              </p:ext>
            </p:extLst>
          </p:nvPr>
        </p:nvGraphicFramePr>
        <p:xfrm>
          <a:off x="6692075" y="3747446"/>
          <a:ext cx="3388500" cy="28436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374560" imgH="1993680" progId="Equation.DSMT4">
                  <p:embed/>
                </p:oleObj>
              </mc:Choice>
              <mc:Fallback>
                <p:oleObj name="Equation" r:id="rId9" imgW="2374560" imgH="1993680" progId="Equation.DSMT4">
                  <p:embed/>
                  <p:pic>
                    <p:nvPicPr>
                      <p:cNvPr id="25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92075" y="3747446"/>
                        <a:ext cx="3388500" cy="284367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Rectangle 25">
            <a:extLst>
              <a:ext uri="{FF2B5EF4-FFF2-40B4-BE49-F238E27FC236}">
                <a16:creationId xmlns:a16="http://schemas.microsoft.com/office/drawing/2014/main" id="{1A62F1BA-43B8-4ED0-A17B-83477FF95F6A}"/>
              </a:ext>
            </a:extLst>
          </p:cNvPr>
          <p:cNvSpPr/>
          <p:nvPr/>
        </p:nvSpPr>
        <p:spPr>
          <a:xfrm>
            <a:off x="8386324" y="6242538"/>
            <a:ext cx="1390721" cy="34857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559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  <p:bldP spid="13" grpId="0"/>
      <p:bldP spid="14" grpId="0"/>
      <p:bldP spid="15" grpId="0"/>
      <p:bldP spid="16" grpId="0"/>
      <p:bldP spid="18" grpId="0"/>
      <p:bldP spid="19" grpId="0"/>
      <p:bldP spid="2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84BDD5A-C51A-4A2D-8C09-644C748304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Örnek</a:t>
            </a:r>
            <a:endParaRPr lang="en-US" dirty="0"/>
          </a:p>
        </p:txBody>
      </p:sp>
      <p:pic>
        <p:nvPicPr>
          <p:cNvPr id="4" name="Picture 7">
            <a:extLst>
              <a:ext uri="{FF2B5EF4-FFF2-40B4-BE49-F238E27FC236}">
                <a16:creationId xmlns:a16="http://schemas.microsoft.com/office/drawing/2014/main" id="{8B9DB063-AAC4-43A5-8FC3-B76BED1910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9412" y="1335535"/>
            <a:ext cx="4200718" cy="2120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6" name="Straight Arrow Connector 2">
            <a:extLst>
              <a:ext uri="{FF2B5EF4-FFF2-40B4-BE49-F238E27FC236}">
                <a16:creationId xmlns:a16="http://schemas.microsoft.com/office/drawing/2014/main" id="{7B36D592-ADB4-4903-B03C-5ADD62822CE3}"/>
              </a:ext>
            </a:extLst>
          </p:cNvPr>
          <p:cNvCxnSpPr/>
          <p:nvPr/>
        </p:nvCxnSpPr>
        <p:spPr>
          <a:xfrm>
            <a:off x="7696830" y="1859149"/>
            <a:ext cx="76200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1060D67-7622-4FB7-884A-05F726534997}"/>
              </a:ext>
            </a:extLst>
          </p:cNvPr>
          <p:cNvCxnSpPr/>
          <p:nvPr/>
        </p:nvCxnSpPr>
        <p:spPr>
          <a:xfrm flipH="1">
            <a:off x="6719888" y="1859149"/>
            <a:ext cx="72390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F475FD5-C405-42E6-96DD-D5BACC1C855A}"/>
              </a:ext>
            </a:extLst>
          </p:cNvPr>
          <p:cNvCxnSpPr/>
          <p:nvPr/>
        </p:nvCxnSpPr>
        <p:spPr>
          <a:xfrm>
            <a:off x="7711940" y="1977490"/>
            <a:ext cx="0" cy="76200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C793F95F-58A2-449D-94E2-98D6F6A3907F}"/>
              </a:ext>
            </a:extLst>
          </p:cNvPr>
          <p:cNvSpPr txBox="1"/>
          <p:nvPr/>
        </p:nvSpPr>
        <p:spPr>
          <a:xfrm>
            <a:off x="1094444" y="3036485"/>
            <a:ext cx="2667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dirty="0">
                <a:solidFill>
                  <a:schemeClr val="accent6">
                    <a:lumMod val="50000"/>
                  </a:schemeClr>
                </a:solidFill>
              </a:rPr>
              <a:t>b düğümü etrafındaki akımlar çizilir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.</a:t>
            </a:r>
          </a:p>
        </p:txBody>
      </p:sp>
      <p:graphicFrame>
        <p:nvGraphicFramePr>
          <p:cNvPr id="10" name="Object 8">
            <a:extLst>
              <a:ext uri="{FF2B5EF4-FFF2-40B4-BE49-F238E27FC236}">
                <a16:creationId xmlns:a16="http://schemas.microsoft.com/office/drawing/2014/main" id="{8BE423D1-34CF-499C-B695-1E74CACCADD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57246145"/>
              </p:ext>
            </p:extLst>
          </p:nvPr>
        </p:nvGraphicFramePr>
        <p:xfrm>
          <a:off x="1673225" y="2046288"/>
          <a:ext cx="852488" cy="998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583920" imgH="685800" progId="Equation.DSMT4">
                  <p:embed/>
                </p:oleObj>
              </mc:Choice>
              <mc:Fallback>
                <p:oleObj name="Equation" r:id="rId3" imgW="583920" imgH="685800" progId="Equation.DSMT4">
                  <p:embed/>
                  <p:pic>
                    <p:nvPicPr>
                      <p:cNvPr id="13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3225" y="2046288"/>
                        <a:ext cx="852488" cy="998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Box 13">
            <a:extLst>
              <a:ext uri="{FF2B5EF4-FFF2-40B4-BE49-F238E27FC236}">
                <a16:creationId xmlns:a16="http://schemas.microsoft.com/office/drawing/2014/main" id="{74205CE1-2952-4FF0-9B26-D2B3551ACF5D}"/>
              </a:ext>
            </a:extLst>
          </p:cNvPr>
          <p:cNvSpPr txBox="1"/>
          <p:nvPr/>
        </p:nvSpPr>
        <p:spPr>
          <a:xfrm>
            <a:off x="1094444" y="1674483"/>
            <a:ext cx="2667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dirty="0">
                <a:solidFill>
                  <a:schemeClr val="accent6">
                    <a:lumMod val="50000"/>
                  </a:schemeClr>
                </a:solidFill>
              </a:rPr>
              <a:t>Düğümler belirlenir:</a:t>
            </a:r>
            <a:endParaRPr lang="en-US" dirty="0">
              <a:solidFill>
                <a:schemeClr val="accent6">
                  <a:lumMod val="50000"/>
                </a:schemeClr>
              </a:solidFill>
            </a:endParaRPr>
          </a:p>
        </p:txBody>
      </p:sp>
      <p:graphicFrame>
        <p:nvGraphicFramePr>
          <p:cNvPr id="12" name="Object 3">
            <a:extLst>
              <a:ext uri="{FF2B5EF4-FFF2-40B4-BE49-F238E27FC236}">
                <a16:creationId xmlns:a16="http://schemas.microsoft.com/office/drawing/2014/main" id="{3DDBC858-F5C7-4CFC-8384-1B475475001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37506660"/>
              </p:ext>
            </p:extLst>
          </p:nvPr>
        </p:nvGraphicFramePr>
        <p:xfrm>
          <a:off x="2545135" y="3886283"/>
          <a:ext cx="2136775" cy="1671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638000" imgH="1282680" progId="Equation.DSMT4">
                  <p:embed/>
                </p:oleObj>
              </mc:Choice>
              <mc:Fallback>
                <p:oleObj name="Equation" r:id="rId5" imgW="1638000" imgH="1282680" progId="Equation.DSMT4">
                  <p:embed/>
                  <p:pic>
                    <p:nvPicPr>
                      <p:cNvPr id="15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45135" y="3886283"/>
                        <a:ext cx="2136775" cy="1671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Box 16">
            <a:extLst>
              <a:ext uri="{FF2B5EF4-FFF2-40B4-BE49-F238E27FC236}">
                <a16:creationId xmlns:a16="http://schemas.microsoft.com/office/drawing/2014/main" id="{DAF8ED18-875D-47F5-B4E0-EA6D0DF0FB91}"/>
              </a:ext>
            </a:extLst>
          </p:cNvPr>
          <p:cNvSpPr txBox="1"/>
          <p:nvPr/>
        </p:nvSpPr>
        <p:spPr>
          <a:xfrm>
            <a:off x="1094444" y="3629017"/>
            <a:ext cx="2667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dirty="0">
                <a:solidFill>
                  <a:schemeClr val="accent6">
                    <a:lumMod val="50000"/>
                  </a:schemeClr>
                </a:solidFill>
              </a:rPr>
              <a:t>Denklemler yazılır;</a:t>
            </a:r>
            <a:endParaRPr lang="en-US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4" name="TextBox 9">
            <a:extLst>
              <a:ext uri="{FF2B5EF4-FFF2-40B4-BE49-F238E27FC236}">
                <a16:creationId xmlns:a16="http://schemas.microsoft.com/office/drawing/2014/main" id="{3970D7A1-84BE-4A9A-A864-7B92E8B1366B}"/>
              </a:ext>
            </a:extLst>
          </p:cNvPr>
          <p:cNvSpPr txBox="1"/>
          <p:nvPr/>
        </p:nvSpPr>
        <p:spPr>
          <a:xfrm>
            <a:off x="6750149" y="1870400"/>
            <a:ext cx="381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I</a:t>
            </a:r>
            <a:r>
              <a:rPr lang="en-US" sz="1400" baseline="-25000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15" name="TextBox 18">
            <a:extLst>
              <a:ext uri="{FF2B5EF4-FFF2-40B4-BE49-F238E27FC236}">
                <a16:creationId xmlns:a16="http://schemas.microsoft.com/office/drawing/2014/main" id="{54A57493-82F5-4630-8418-92535B93C991}"/>
              </a:ext>
            </a:extLst>
          </p:cNvPr>
          <p:cNvSpPr txBox="1"/>
          <p:nvPr/>
        </p:nvSpPr>
        <p:spPr>
          <a:xfrm>
            <a:off x="8159751" y="1844399"/>
            <a:ext cx="381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I</a:t>
            </a:r>
            <a:r>
              <a:rPr lang="en-US" sz="1400" baseline="-25000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16" name="TextBox 19">
            <a:extLst>
              <a:ext uri="{FF2B5EF4-FFF2-40B4-BE49-F238E27FC236}">
                <a16:creationId xmlns:a16="http://schemas.microsoft.com/office/drawing/2014/main" id="{8C2EA612-8B7E-49A7-88E0-8B6D4FCD8AE7}"/>
              </a:ext>
            </a:extLst>
          </p:cNvPr>
          <p:cNvSpPr txBox="1"/>
          <p:nvPr/>
        </p:nvSpPr>
        <p:spPr>
          <a:xfrm>
            <a:off x="7711940" y="2483523"/>
            <a:ext cx="381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I</a:t>
            </a:r>
            <a:r>
              <a:rPr lang="en-US" sz="1400" baseline="-25000" dirty="0">
                <a:solidFill>
                  <a:srgbClr val="FF0000"/>
                </a:solidFill>
              </a:rPr>
              <a:t>2</a:t>
            </a:r>
          </a:p>
        </p:txBody>
      </p:sp>
      <p:graphicFrame>
        <p:nvGraphicFramePr>
          <p:cNvPr id="17" name="Object 3">
            <a:extLst>
              <a:ext uri="{FF2B5EF4-FFF2-40B4-BE49-F238E27FC236}">
                <a16:creationId xmlns:a16="http://schemas.microsoft.com/office/drawing/2014/main" id="{98E46F99-A44A-4289-BA1D-9F4A3595B5C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35148958"/>
              </p:ext>
            </p:extLst>
          </p:nvPr>
        </p:nvGraphicFramePr>
        <p:xfrm>
          <a:off x="1282773" y="5810470"/>
          <a:ext cx="243205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057400" imgH="419040" progId="Equation.DSMT4">
                  <p:embed/>
                </p:oleObj>
              </mc:Choice>
              <mc:Fallback>
                <p:oleObj name="Equation" r:id="rId7" imgW="2057400" imgH="419040" progId="Equation.DSMT4">
                  <p:embed/>
                  <p:pic>
                    <p:nvPicPr>
                      <p:cNvPr id="22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82773" y="5810470"/>
                        <a:ext cx="2432050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TextBox 22">
            <a:extLst>
              <a:ext uri="{FF2B5EF4-FFF2-40B4-BE49-F238E27FC236}">
                <a16:creationId xmlns:a16="http://schemas.microsoft.com/office/drawing/2014/main" id="{840D4000-FD94-4F0D-B96E-7A31D3238916}"/>
              </a:ext>
            </a:extLst>
          </p:cNvPr>
          <p:cNvSpPr txBox="1"/>
          <p:nvPr/>
        </p:nvSpPr>
        <p:spPr>
          <a:xfrm>
            <a:off x="3691819" y="5873454"/>
            <a:ext cx="9042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=&gt;KCL</a:t>
            </a:r>
          </a:p>
        </p:txBody>
      </p:sp>
      <p:sp>
        <p:nvSpPr>
          <p:cNvPr id="19" name="TextBox 23">
            <a:extLst>
              <a:ext uri="{FF2B5EF4-FFF2-40B4-BE49-F238E27FC236}">
                <a16:creationId xmlns:a16="http://schemas.microsoft.com/office/drawing/2014/main" id="{134137B4-0030-4175-BC27-2EF777BE345B}"/>
              </a:ext>
            </a:extLst>
          </p:cNvPr>
          <p:cNvSpPr txBox="1"/>
          <p:nvPr/>
        </p:nvSpPr>
        <p:spPr>
          <a:xfrm>
            <a:off x="1211635" y="6261649"/>
            <a:ext cx="2667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dirty="0">
                <a:solidFill>
                  <a:schemeClr val="accent6">
                    <a:lumMod val="50000"/>
                  </a:schemeClr>
                </a:solidFill>
              </a:rPr>
              <a:t>Eşitlik çözülür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:</a:t>
            </a:r>
          </a:p>
        </p:txBody>
      </p:sp>
      <p:graphicFrame>
        <p:nvGraphicFramePr>
          <p:cNvPr id="20" name="Object 3">
            <a:extLst>
              <a:ext uri="{FF2B5EF4-FFF2-40B4-BE49-F238E27FC236}">
                <a16:creationId xmlns:a16="http://schemas.microsoft.com/office/drawing/2014/main" id="{C533BF1B-841D-4DF4-A909-3EA152BDEBB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03086799"/>
              </p:ext>
            </p:extLst>
          </p:nvPr>
        </p:nvGraphicFramePr>
        <p:xfrm>
          <a:off x="5415035" y="3662582"/>
          <a:ext cx="4059238" cy="284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844720" imgH="1993680" progId="Equation.DSMT4">
                  <p:embed/>
                </p:oleObj>
              </mc:Choice>
              <mc:Fallback>
                <p:oleObj name="Equation" r:id="rId9" imgW="2844720" imgH="1993680" progId="Equation.DSMT4">
                  <p:embed/>
                  <p:pic>
                    <p:nvPicPr>
                      <p:cNvPr id="25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5035" y="3662582"/>
                        <a:ext cx="4059238" cy="284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Rectangle 25">
            <a:extLst>
              <a:ext uri="{FF2B5EF4-FFF2-40B4-BE49-F238E27FC236}">
                <a16:creationId xmlns:a16="http://schemas.microsoft.com/office/drawing/2014/main" id="{839AB8E8-0B65-4B84-8F10-B6333B9A4BFC}"/>
              </a:ext>
            </a:extLst>
          </p:cNvPr>
          <p:cNvSpPr/>
          <p:nvPr/>
        </p:nvSpPr>
        <p:spPr>
          <a:xfrm>
            <a:off x="7711940" y="6158803"/>
            <a:ext cx="1390721" cy="34857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3">
            <a:extLst>
              <a:ext uri="{FF2B5EF4-FFF2-40B4-BE49-F238E27FC236}">
                <a16:creationId xmlns:a16="http://schemas.microsoft.com/office/drawing/2014/main" id="{72D53B54-A73C-4E60-9161-DC3B4D95BB1C}"/>
              </a:ext>
            </a:extLst>
          </p:cNvPr>
          <p:cNvSpPr txBox="1">
            <a:spLocks noChangeArrowheads="1"/>
          </p:cNvSpPr>
          <p:nvPr/>
        </p:nvSpPr>
        <p:spPr>
          <a:xfrm>
            <a:off x="1380007" y="1241050"/>
            <a:ext cx="3352800" cy="609600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tr-TR" altLang="en-US" sz="2400" dirty="0">
                <a:latin typeface="Times New Roman" panose="02020603050405020304" pitchFamily="18" charset="0"/>
              </a:rPr>
              <a:t>DGY kullanarak </a:t>
            </a:r>
            <a:r>
              <a:rPr lang="en-US" altLang="en-US" sz="2400" dirty="0" err="1"/>
              <a:t>V</a:t>
            </a:r>
            <a:r>
              <a:rPr lang="en-US" altLang="en-US" sz="2400" baseline="-25000" dirty="0" err="1"/>
              <a:t>b</a:t>
            </a:r>
            <a:r>
              <a:rPr lang="en-US" altLang="en-US" sz="2400" baseline="-25000" dirty="0"/>
              <a:t> </a:t>
            </a:r>
            <a:r>
              <a:rPr lang="tr-TR" altLang="en-US" sz="2400" dirty="0">
                <a:latin typeface="Times New Roman" panose="02020603050405020304" pitchFamily="18" charset="0"/>
              </a:rPr>
              <a:t>bulalım.</a:t>
            </a:r>
            <a:endParaRPr lang="en-US" altLang="en-US" sz="2400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33748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  <p:bldP spid="13" grpId="0"/>
      <p:bldP spid="14" grpId="0"/>
      <p:bldP spid="15" grpId="0"/>
      <p:bldP spid="16" grpId="0"/>
      <p:bldP spid="18" grpId="0"/>
      <p:bldP spid="19" grpId="0"/>
      <p:bldP spid="2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A7A6D22-589A-43BE-A237-D1D3518818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Polariteye Dikkat Edelim</a:t>
            </a:r>
            <a:endParaRPr lang="en-US" dirty="0"/>
          </a:p>
        </p:txBody>
      </p:sp>
      <p:graphicFrame>
        <p:nvGraphicFramePr>
          <p:cNvPr id="4" name="Object 8">
            <a:extLst>
              <a:ext uri="{FF2B5EF4-FFF2-40B4-BE49-F238E27FC236}">
                <a16:creationId xmlns:a16="http://schemas.microsoft.com/office/drawing/2014/main" id="{5A976A9F-0AC5-4C23-80A6-FE11C26C6A7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01984731"/>
              </p:ext>
            </p:extLst>
          </p:nvPr>
        </p:nvGraphicFramePr>
        <p:xfrm>
          <a:off x="4564856" y="3281964"/>
          <a:ext cx="3138488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523880" imgH="419040" progId="Equation.DSMT4">
                  <p:embed/>
                </p:oleObj>
              </mc:Choice>
              <mc:Fallback>
                <p:oleObj name="Equation" r:id="rId2" imgW="1523880" imgH="419040" progId="Equation.DSMT4">
                  <p:embed/>
                  <p:pic>
                    <p:nvPicPr>
                      <p:cNvPr id="994312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64856" y="3281964"/>
                        <a:ext cx="3138488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5">
            <a:extLst>
              <a:ext uri="{FF2B5EF4-FFF2-40B4-BE49-F238E27FC236}">
                <a16:creationId xmlns:a16="http://schemas.microsoft.com/office/drawing/2014/main" id="{AA53627A-85B6-42CF-A8A7-02F65764F607}"/>
              </a:ext>
            </a:extLst>
          </p:cNvPr>
          <p:cNvSpPr txBox="1">
            <a:spLocks noChangeArrowheads="1"/>
          </p:cNvSpPr>
          <p:nvPr/>
        </p:nvSpPr>
        <p:spPr>
          <a:xfrm>
            <a:off x="838200" y="1538739"/>
            <a:ext cx="9357360" cy="15795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2400" dirty="0" err="1"/>
              <a:t>Voltaj</a:t>
            </a:r>
            <a:r>
              <a:rPr lang="en-US" altLang="en-US" sz="2400" dirty="0"/>
              <a:t> </a:t>
            </a:r>
            <a:r>
              <a:rPr lang="en-US" altLang="en-US" sz="2400" dirty="0" err="1"/>
              <a:t>beslemelerinin</a:t>
            </a:r>
            <a:r>
              <a:rPr lang="en-US" altLang="en-US" sz="2400" dirty="0"/>
              <a:t> </a:t>
            </a:r>
            <a:r>
              <a:rPr lang="en-US" altLang="en-US" sz="2400" dirty="0" err="1"/>
              <a:t>polaritesi</a:t>
            </a:r>
            <a:r>
              <a:rPr lang="en-US" altLang="en-US" sz="2400" dirty="0"/>
              <a:t> </a:t>
            </a:r>
            <a:r>
              <a:rPr lang="en-US" altLang="en-US" sz="2400" dirty="0" err="1"/>
              <a:t>denklemleri</a:t>
            </a:r>
            <a:r>
              <a:rPr lang="en-US" altLang="en-US" sz="2400" dirty="0"/>
              <a:t> </a:t>
            </a:r>
            <a:r>
              <a:rPr lang="en-US" altLang="en-US" sz="2400" dirty="0" err="1"/>
              <a:t>nasıl</a:t>
            </a:r>
            <a:r>
              <a:rPr lang="en-US" altLang="en-US" sz="2400" dirty="0"/>
              <a:t> </a:t>
            </a:r>
            <a:r>
              <a:rPr lang="en-US" altLang="en-US" sz="2400" dirty="0" err="1"/>
              <a:t>yazdığınızı</a:t>
            </a:r>
            <a:r>
              <a:rPr lang="en-US" altLang="en-US" sz="2400" dirty="0"/>
              <a:t> </a:t>
            </a:r>
            <a:r>
              <a:rPr lang="en-US" altLang="en-US" sz="2400" dirty="0" err="1"/>
              <a:t>değiştirir</a:t>
            </a:r>
            <a:r>
              <a:rPr lang="en-US" altLang="en-US" sz="2400" dirty="0"/>
              <a:t>.</a:t>
            </a:r>
          </a:p>
          <a:p>
            <a:r>
              <a:rPr lang="en-US" altLang="en-US" sz="2400" dirty="0" err="1"/>
              <a:t>Sağdaki</a:t>
            </a:r>
            <a:r>
              <a:rPr lang="en-US" altLang="en-US" sz="2400" dirty="0"/>
              <a:t> </a:t>
            </a:r>
            <a:r>
              <a:rPr lang="en-US" altLang="en-US" sz="2400" dirty="0" err="1"/>
              <a:t>ters</a:t>
            </a:r>
            <a:r>
              <a:rPr lang="en-US" altLang="en-US" sz="2400" dirty="0"/>
              <a:t> </a:t>
            </a:r>
            <a:r>
              <a:rPr lang="en-US" altLang="en-US" sz="2400" dirty="0" err="1"/>
              <a:t>beslemeye</a:t>
            </a:r>
            <a:r>
              <a:rPr lang="en-US" altLang="en-US" sz="2400" dirty="0"/>
              <a:t> </a:t>
            </a:r>
            <a:r>
              <a:rPr lang="en-US" altLang="en-US" sz="2400" dirty="0" err="1"/>
              <a:t>ve</a:t>
            </a:r>
            <a:r>
              <a:rPr lang="en-US" altLang="en-US" sz="2400" dirty="0"/>
              <a:t> </a:t>
            </a:r>
            <a:r>
              <a:rPr lang="en-US" altLang="en-US" sz="2400" dirty="0" err="1"/>
              <a:t>denklemi</a:t>
            </a:r>
            <a:r>
              <a:rPr lang="en-US" altLang="en-US" sz="2400" dirty="0"/>
              <a:t> </a:t>
            </a:r>
            <a:r>
              <a:rPr lang="en-US" altLang="en-US" sz="2400" dirty="0" err="1"/>
              <a:t>nasıl</a:t>
            </a:r>
            <a:r>
              <a:rPr lang="en-US" altLang="en-US" sz="2400" dirty="0"/>
              <a:t> </a:t>
            </a:r>
            <a:r>
              <a:rPr lang="en-US" altLang="en-US" sz="2400" dirty="0" err="1"/>
              <a:t>yazdığınıza</a:t>
            </a:r>
            <a:r>
              <a:rPr lang="en-US" altLang="en-US" sz="2400" dirty="0"/>
              <a:t> </a:t>
            </a:r>
            <a:r>
              <a:rPr lang="en-US" altLang="en-US" sz="2400" dirty="0" err="1"/>
              <a:t>dikkat</a:t>
            </a:r>
            <a:r>
              <a:rPr lang="en-US" altLang="en-US" sz="2400" dirty="0"/>
              <a:t> </a:t>
            </a:r>
            <a:r>
              <a:rPr lang="en-US" altLang="en-US" sz="2400" dirty="0" err="1"/>
              <a:t>edin</a:t>
            </a:r>
            <a:r>
              <a:rPr lang="en-US" altLang="en-US" sz="2400" dirty="0"/>
              <a:t>.</a:t>
            </a:r>
          </a:p>
        </p:txBody>
      </p:sp>
      <p:grpSp>
        <p:nvGrpSpPr>
          <p:cNvPr id="6" name="Group 1">
            <a:extLst>
              <a:ext uri="{FF2B5EF4-FFF2-40B4-BE49-F238E27FC236}">
                <a16:creationId xmlns:a16="http://schemas.microsoft.com/office/drawing/2014/main" id="{B796BF9F-21D4-4D2C-89CD-1A8A4D1F8BBF}"/>
              </a:ext>
            </a:extLst>
          </p:cNvPr>
          <p:cNvGrpSpPr/>
          <p:nvPr/>
        </p:nvGrpSpPr>
        <p:grpSpPr>
          <a:xfrm>
            <a:off x="4564856" y="5364734"/>
            <a:ext cx="4708525" cy="914400"/>
            <a:chOff x="4229894" y="5097448"/>
            <a:chExt cx="4708525" cy="914400"/>
          </a:xfrm>
        </p:grpSpPr>
        <p:graphicFrame>
          <p:nvGraphicFramePr>
            <p:cNvPr id="7" name="Object 8">
              <a:extLst>
                <a:ext uri="{FF2B5EF4-FFF2-40B4-BE49-F238E27FC236}">
                  <a16:creationId xmlns:a16="http://schemas.microsoft.com/office/drawing/2014/main" id="{DEB0537E-6495-4ED0-9CDB-8EF602A5D85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66509618"/>
                </p:ext>
              </p:extLst>
            </p:nvPr>
          </p:nvGraphicFramePr>
          <p:xfrm>
            <a:off x="4229894" y="5097448"/>
            <a:ext cx="4708525" cy="914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2286000" imgH="444240" progId="Equation.DSMT4">
                    <p:embed/>
                  </p:oleObj>
                </mc:Choice>
                <mc:Fallback>
                  <p:oleObj name="Equation" r:id="rId4" imgW="2286000" imgH="444240" progId="Equation.DSMT4">
                    <p:embed/>
                    <p:pic>
                      <p:nvPicPr>
                        <p:cNvPr id="8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29894" y="5097448"/>
                          <a:ext cx="4708525" cy="9144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" name="Rectangle 11">
              <a:extLst>
                <a:ext uri="{FF2B5EF4-FFF2-40B4-BE49-F238E27FC236}">
                  <a16:creationId xmlns:a16="http://schemas.microsoft.com/office/drawing/2014/main" id="{FEC02B60-C849-4206-A9A8-E595CFB708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85580" y="5173663"/>
              <a:ext cx="823913" cy="457200"/>
            </a:xfrm>
            <a:prstGeom prst="rect">
              <a:avLst/>
            </a:prstGeom>
            <a:solidFill>
              <a:srgbClr val="FF9900">
                <a:alpha val="5294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000"/>
            </a:p>
          </p:txBody>
        </p:sp>
        <p:sp>
          <p:nvSpPr>
            <p:cNvPr id="9" name="Rectangle 12">
              <a:extLst>
                <a:ext uri="{FF2B5EF4-FFF2-40B4-BE49-F238E27FC236}">
                  <a16:creationId xmlns:a16="http://schemas.microsoft.com/office/drawing/2014/main" id="{91EEA6CA-9F2F-41CF-983A-9DA82F5735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44694" y="5173663"/>
              <a:ext cx="457200" cy="457200"/>
            </a:xfrm>
            <a:prstGeom prst="rect">
              <a:avLst/>
            </a:prstGeom>
            <a:solidFill>
              <a:srgbClr val="FF9900">
                <a:alpha val="5294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000"/>
            </a:p>
          </p:txBody>
        </p:sp>
      </p:grpSp>
      <p:pic>
        <p:nvPicPr>
          <p:cNvPr id="10" name="Picture 13">
            <a:extLst>
              <a:ext uri="{FF2B5EF4-FFF2-40B4-BE49-F238E27FC236}">
                <a16:creationId xmlns:a16="http://schemas.microsoft.com/office/drawing/2014/main" id="{E488E8BC-19A9-4007-A9C0-491B9E1F8E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487" y="3620086"/>
            <a:ext cx="4114800" cy="2049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1" name="Object 8">
            <a:extLst>
              <a:ext uri="{FF2B5EF4-FFF2-40B4-BE49-F238E27FC236}">
                <a16:creationId xmlns:a16="http://schemas.microsoft.com/office/drawing/2014/main" id="{D9844695-164C-46B0-90BA-B384C1E0B6C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76418761"/>
              </p:ext>
            </p:extLst>
          </p:nvPr>
        </p:nvGraphicFramePr>
        <p:xfrm>
          <a:off x="4564856" y="4324143"/>
          <a:ext cx="2484438" cy="862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206360" imgH="419040" progId="Equation.DSMT4">
                  <p:embed/>
                </p:oleObj>
              </mc:Choice>
              <mc:Fallback>
                <p:oleObj name="Equation" r:id="rId7" imgW="1206360" imgH="419040" progId="Equation.DSMT4">
                  <p:embed/>
                  <p:pic>
                    <p:nvPicPr>
                      <p:cNvPr id="9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64856" y="4324143"/>
                        <a:ext cx="2484438" cy="862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Oval 11">
            <a:extLst>
              <a:ext uri="{FF2B5EF4-FFF2-40B4-BE49-F238E27FC236}">
                <a16:creationId xmlns:a16="http://schemas.microsoft.com/office/drawing/2014/main" id="{54CFEF14-6EEA-4DD9-A5CF-DC2273641777}"/>
              </a:ext>
            </a:extLst>
          </p:cNvPr>
          <p:cNvSpPr/>
          <p:nvPr/>
        </p:nvSpPr>
        <p:spPr>
          <a:xfrm>
            <a:off x="3230562" y="4324143"/>
            <a:ext cx="724218" cy="743743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3" name="Nesne 12">
            <a:extLst>
              <a:ext uri="{FF2B5EF4-FFF2-40B4-BE49-F238E27FC236}">
                <a16:creationId xmlns:a16="http://schemas.microsoft.com/office/drawing/2014/main" id="{17C17DC3-B5AB-49E6-A96E-2C9B3925FE1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9509522"/>
              </p:ext>
            </p:extLst>
          </p:nvPr>
        </p:nvGraphicFramePr>
        <p:xfrm>
          <a:off x="7819628" y="2997466"/>
          <a:ext cx="4209256" cy="20023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4705339" imgH="2238289" progId="Equation.DSMT4">
                  <p:embed/>
                </p:oleObj>
              </mc:Choice>
              <mc:Fallback>
                <p:oleObj name="Equation" r:id="rId9" imgW="4705339" imgH="2238289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7819628" y="2997466"/>
                        <a:ext cx="4209256" cy="200237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78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 tmFilter="0, 0; .2, .5; .8, .5; 1, 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" dur="250" autoRev="1" fill="hold"/>
                                        <p:tgtEl>
                                          <p:spTgt spid="1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2" grpId="1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609783E-38E8-444C-92D6-275AAAB704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78"/>
            <a:ext cx="10515600" cy="1325563"/>
          </a:xfrm>
        </p:spPr>
        <p:txBody>
          <a:bodyPr/>
          <a:lstStyle/>
          <a:p>
            <a:r>
              <a:rPr lang="tr-TR" dirty="0"/>
              <a:t>Örnek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8B61C3-DC5F-480A-A4C6-F460E233B6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1190007"/>
            <a:ext cx="8869362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 Narrow" pitchFamily="34" charset="0"/>
              <a:buChar char="•"/>
              <a:defRPr sz="2800">
                <a:solidFill>
                  <a:srgbClr val="000058"/>
                </a:solidFill>
                <a:latin typeface="+mn-lt"/>
                <a:ea typeface="ＭＳ Ｐゴシック" charset="-128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 Narrow" pitchFamily="34" charset="0"/>
              <a:buChar char="−"/>
              <a:defRPr sz="2400">
                <a:solidFill>
                  <a:srgbClr val="000058"/>
                </a:solidFill>
                <a:latin typeface="+mn-lt"/>
                <a:ea typeface="ＭＳ Ｐゴシック" charset="-128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 Narrow" pitchFamily="34" charset="0"/>
              <a:buChar char="•"/>
              <a:defRPr sz="2000">
                <a:solidFill>
                  <a:srgbClr val="000058"/>
                </a:solidFill>
                <a:latin typeface="+mn-lt"/>
                <a:ea typeface="ＭＳ Ｐゴシック" charset="-128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Ø"/>
              <a:defRPr>
                <a:solidFill>
                  <a:srgbClr val="000058"/>
                </a:solidFill>
                <a:latin typeface="+mn-lt"/>
                <a:ea typeface="ＭＳ Ｐゴシック" charset="-128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58"/>
                </a:solidFill>
                <a:latin typeface="+mn-lt"/>
                <a:ea typeface="ＭＳ Ｐゴシック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58"/>
                </a:solidFill>
                <a:latin typeface="+mn-lt"/>
                <a:ea typeface="ＭＳ Ｐゴシック" charset="-128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58"/>
                </a:solidFill>
                <a:latin typeface="+mn-lt"/>
                <a:ea typeface="ＭＳ Ｐゴシック" charset="-128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58"/>
                </a:solidFill>
                <a:latin typeface="+mn-lt"/>
                <a:ea typeface="ＭＳ Ｐゴシック" charset="-128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58"/>
                </a:solidFill>
                <a:latin typeface="+mn-lt"/>
                <a:ea typeface="ＭＳ Ｐゴシック" charset="-128"/>
              </a:defRPr>
            </a:lvl9pPr>
          </a:lstStyle>
          <a:p>
            <a:pPr marL="457200" indent="-457200">
              <a:buFont typeface="+mj-lt"/>
              <a:buAutoNum type="alphaLcParenR"/>
            </a:pPr>
            <a:r>
              <a:rPr lang="en-US" altLang="en-US" sz="2400" kern="0" dirty="0" err="1"/>
              <a:t>Aşağıdaki</a:t>
            </a:r>
            <a:r>
              <a:rPr lang="en-US" altLang="en-US" sz="2400" kern="0" dirty="0"/>
              <a:t> </a:t>
            </a:r>
            <a:r>
              <a:rPr lang="en-US" altLang="en-US" sz="2400" kern="0" dirty="0" err="1"/>
              <a:t>devrede</a:t>
            </a:r>
            <a:r>
              <a:rPr lang="en-US" altLang="en-US" sz="2400" kern="0" dirty="0"/>
              <a:t> </a:t>
            </a:r>
            <a:r>
              <a:rPr lang="en-US" altLang="en-US" sz="2400" kern="0" dirty="0" err="1"/>
              <a:t>kaç</a:t>
            </a:r>
            <a:r>
              <a:rPr lang="en-US" altLang="en-US" sz="2400" kern="0" dirty="0"/>
              <a:t> </a:t>
            </a:r>
            <a:r>
              <a:rPr lang="en-US" altLang="en-US" sz="2400" kern="0" dirty="0" err="1"/>
              <a:t>düğümün</a:t>
            </a:r>
            <a:r>
              <a:rPr lang="en-US" altLang="en-US" sz="2400" kern="0" dirty="0"/>
              <a:t> </a:t>
            </a:r>
            <a:r>
              <a:rPr lang="en-US" altLang="en-US" sz="2400" kern="0" dirty="0" err="1"/>
              <a:t>voltajı</a:t>
            </a:r>
            <a:r>
              <a:rPr lang="en-US" altLang="en-US" sz="2400" kern="0" dirty="0"/>
              <a:t> </a:t>
            </a:r>
            <a:r>
              <a:rPr lang="en-US" altLang="en-US" sz="2400" kern="0" dirty="0" err="1"/>
              <a:t>bilinmiyor</a:t>
            </a:r>
            <a:r>
              <a:rPr lang="en-US" altLang="en-US" sz="2400" kern="0" dirty="0"/>
              <a:t>?  </a:t>
            </a:r>
          </a:p>
          <a:p>
            <a:pPr marL="457200" indent="-457200">
              <a:buFont typeface="+mj-lt"/>
              <a:buAutoNum type="alphaLcParenR"/>
            </a:pPr>
            <a:r>
              <a:rPr lang="en-US" altLang="en-US" sz="2400" kern="0" dirty="0"/>
              <a:t>I</a:t>
            </a:r>
            <a:r>
              <a:rPr lang="en-US" altLang="en-US" sz="2400" kern="0" baseline="-25000" dirty="0"/>
              <a:t>UNK </a:t>
            </a:r>
            <a:r>
              <a:rPr lang="tr-TR" altLang="en-US" sz="2400" kern="0" baseline="-25000" dirty="0"/>
              <a:t> </a:t>
            </a:r>
            <a:r>
              <a:rPr lang="tr-TR" altLang="en-US" sz="2400" kern="0" dirty="0"/>
              <a:t>bulunuz</a:t>
            </a:r>
            <a:r>
              <a:rPr lang="en-US" altLang="en-US" sz="2400" kern="0" dirty="0"/>
              <a:t>.</a:t>
            </a:r>
          </a:p>
        </p:txBody>
      </p:sp>
      <p:pic>
        <p:nvPicPr>
          <p:cNvPr id="5" name="Picture 10">
            <a:extLst>
              <a:ext uri="{FF2B5EF4-FFF2-40B4-BE49-F238E27FC236}">
                <a16:creationId xmlns:a16="http://schemas.microsoft.com/office/drawing/2014/main" id="{030B3695-4A8C-4D0C-B14E-D293D8CF7D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8791" y="1601377"/>
            <a:ext cx="4221162" cy="20754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6" name="Straight Arrow Connector 2">
            <a:extLst>
              <a:ext uri="{FF2B5EF4-FFF2-40B4-BE49-F238E27FC236}">
                <a16:creationId xmlns:a16="http://schemas.microsoft.com/office/drawing/2014/main" id="{8DF71582-F3E8-4D8B-9103-D017D280FAB9}"/>
              </a:ext>
            </a:extLst>
          </p:cNvPr>
          <p:cNvCxnSpPr/>
          <p:nvPr/>
        </p:nvCxnSpPr>
        <p:spPr>
          <a:xfrm>
            <a:off x="7014912" y="2333007"/>
            <a:ext cx="76200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02A6470-0BB8-49B0-9355-C7D72C03F40C}"/>
              </a:ext>
            </a:extLst>
          </p:cNvPr>
          <p:cNvCxnSpPr/>
          <p:nvPr/>
        </p:nvCxnSpPr>
        <p:spPr>
          <a:xfrm flipH="1">
            <a:off x="6016894" y="2345794"/>
            <a:ext cx="72390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0E8C772-8A31-4866-8832-9E544D6702A0}"/>
              </a:ext>
            </a:extLst>
          </p:cNvPr>
          <p:cNvCxnSpPr/>
          <p:nvPr/>
        </p:nvCxnSpPr>
        <p:spPr>
          <a:xfrm>
            <a:off x="7014912" y="2344509"/>
            <a:ext cx="0" cy="76200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68E68A80-95F4-44AC-936B-21103DCFCC65}"/>
              </a:ext>
            </a:extLst>
          </p:cNvPr>
          <p:cNvSpPr txBox="1"/>
          <p:nvPr/>
        </p:nvSpPr>
        <p:spPr>
          <a:xfrm>
            <a:off x="1202007" y="2703990"/>
            <a:ext cx="2667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dirty="0">
                <a:solidFill>
                  <a:schemeClr val="accent6">
                    <a:lumMod val="50000"/>
                  </a:schemeClr>
                </a:solidFill>
              </a:rPr>
              <a:t>b düğümü etrafındaki akımlar çizilir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.</a:t>
            </a:r>
          </a:p>
        </p:txBody>
      </p:sp>
      <p:graphicFrame>
        <p:nvGraphicFramePr>
          <p:cNvPr id="10" name="Object 8">
            <a:extLst>
              <a:ext uri="{FF2B5EF4-FFF2-40B4-BE49-F238E27FC236}">
                <a16:creationId xmlns:a16="http://schemas.microsoft.com/office/drawing/2014/main" id="{89375ADD-243E-49F8-9686-934C958964A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91743370"/>
              </p:ext>
            </p:extLst>
          </p:nvPr>
        </p:nvGraphicFramePr>
        <p:xfrm>
          <a:off x="3798888" y="2178050"/>
          <a:ext cx="1276350" cy="998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876240" imgH="685800" progId="Equation.DSMT4">
                  <p:embed/>
                </p:oleObj>
              </mc:Choice>
              <mc:Fallback>
                <p:oleObj name="Equation" r:id="rId3" imgW="876240" imgH="685800" progId="Equation.DSMT4">
                  <p:embed/>
                  <p:pic>
                    <p:nvPicPr>
                      <p:cNvPr id="13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98888" y="2178050"/>
                        <a:ext cx="1276350" cy="998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Box 13">
            <a:extLst>
              <a:ext uri="{FF2B5EF4-FFF2-40B4-BE49-F238E27FC236}">
                <a16:creationId xmlns:a16="http://schemas.microsoft.com/office/drawing/2014/main" id="{38775BEF-5DA2-4E31-AEAC-786C77C622F6}"/>
              </a:ext>
            </a:extLst>
          </p:cNvPr>
          <p:cNvSpPr txBox="1"/>
          <p:nvPr/>
        </p:nvSpPr>
        <p:spPr>
          <a:xfrm>
            <a:off x="1046264" y="2403987"/>
            <a:ext cx="29082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b) </a:t>
            </a:r>
            <a:r>
              <a:rPr lang="tr-TR" dirty="0">
                <a:solidFill>
                  <a:srgbClr val="FF0000"/>
                </a:solidFill>
              </a:rPr>
              <a:t>Düğümler belirlenir</a:t>
            </a:r>
            <a:r>
              <a:rPr lang="en-US" dirty="0">
                <a:solidFill>
                  <a:srgbClr val="FF0000"/>
                </a:solidFill>
              </a:rPr>
              <a:t>:    </a:t>
            </a:r>
            <a:r>
              <a:rPr lang="en-US" b="1" dirty="0">
                <a:solidFill>
                  <a:srgbClr val="FF0000"/>
                </a:solidFill>
              </a:rPr>
              <a:t>=&gt;</a:t>
            </a:r>
          </a:p>
        </p:txBody>
      </p:sp>
      <p:graphicFrame>
        <p:nvGraphicFramePr>
          <p:cNvPr id="12" name="Object 3">
            <a:extLst>
              <a:ext uri="{FF2B5EF4-FFF2-40B4-BE49-F238E27FC236}">
                <a16:creationId xmlns:a16="http://schemas.microsoft.com/office/drawing/2014/main" id="{21063014-B6B8-45C5-BBE6-1361CBC459C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02652018"/>
              </p:ext>
            </p:extLst>
          </p:nvPr>
        </p:nvGraphicFramePr>
        <p:xfrm>
          <a:off x="916672" y="3790405"/>
          <a:ext cx="3859213" cy="1125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958840" imgH="863280" progId="Equation.DSMT4">
                  <p:embed/>
                </p:oleObj>
              </mc:Choice>
              <mc:Fallback>
                <p:oleObj name="Equation" r:id="rId5" imgW="2958840" imgH="863280" progId="Equation.DSMT4">
                  <p:embed/>
                  <p:pic>
                    <p:nvPicPr>
                      <p:cNvPr id="15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6672" y="3790405"/>
                        <a:ext cx="3859213" cy="1125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Box 16">
            <a:extLst>
              <a:ext uri="{FF2B5EF4-FFF2-40B4-BE49-F238E27FC236}">
                <a16:creationId xmlns:a16="http://schemas.microsoft.com/office/drawing/2014/main" id="{A62650F1-A204-4E4D-95AB-D841DB2EDDAB}"/>
              </a:ext>
            </a:extLst>
          </p:cNvPr>
          <p:cNvSpPr txBox="1"/>
          <p:nvPr/>
        </p:nvSpPr>
        <p:spPr>
          <a:xfrm>
            <a:off x="1202007" y="3266325"/>
            <a:ext cx="2667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dirty="0">
                <a:solidFill>
                  <a:schemeClr val="accent6">
                    <a:lumMod val="50000"/>
                  </a:schemeClr>
                </a:solidFill>
              </a:rPr>
              <a:t>Denklemler yazılır;</a:t>
            </a:r>
            <a:endParaRPr lang="en-US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4" name="TextBox 9">
            <a:extLst>
              <a:ext uri="{FF2B5EF4-FFF2-40B4-BE49-F238E27FC236}">
                <a16:creationId xmlns:a16="http://schemas.microsoft.com/office/drawing/2014/main" id="{AE1498C3-0710-4A5B-A931-46326206735E}"/>
              </a:ext>
            </a:extLst>
          </p:cNvPr>
          <p:cNvSpPr txBox="1"/>
          <p:nvPr/>
        </p:nvSpPr>
        <p:spPr>
          <a:xfrm>
            <a:off x="6038531" y="2333007"/>
            <a:ext cx="381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400" dirty="0">
                <a:solidFill>
                  <a:srgbClr val="FF0000"/>
                </a:solidFill>
              </a:rPr>
              <a:t>i</a:t>
            </a:r>
            <a:r>
              <a:rPr lang="en-US" sz="1400" baseline="-25000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15" name="TextBox 18">
            <a:extLst>
              <a:ext uri="{FF2B5EF4-FFF2-40B4-BE49-F238E27FC236}">
                <a16:creationId xmlns:a16="http://schemas.microsoft.com/office/drawing/2014/main" id="{51647579-F63A-45E6-AA57-436CBC2F9463}"/>
              </a:ext>
            </a:extLst>
          </p:cNvPr>
          <p:cNvSpPr txBox="1"/>
          <p:nvPr/>
        </p:nvSpPr>
        <p:spPr>
          <a:xfrm>
            <a:off x="7498766" y="2275345"/>
            <a:ext cx="381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400" dirty="0">
                <a:solidFill>
                  <a:srgbClr val="FF0000"/>
                </a:solidFill>
              </a:rPr>
              <a:t>i</a:t>
            </a:r>
            <a:r>
              <a:rPr lang="en-US" sz="1400" baseline="-25000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16" name="TextBox 19">
            <a:extLst>
              <a:ext uri="{FF2B5EF4-FFF2-40B4-BE49-F238E27FC236}">
                <a16:creationId xmlns:a16="http://schemas.microsoft.com/office/drawing/2014/main" id="{ECA49F04-F7D3-4ED6-AD78-FC1ADC788389}"/>
              </a:ext>
            </a:extLst>
          </p:cNvPr>
          <p:cNvSpPr txBox="1"/>
          <p:nvPr/>
        </p:nvSpPr>
        <p:spPr>
          <a:xfrm>
            <a:off x="7014912" y="2876470"/>
            <a:ext cx="381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400" dirty="0">
                <a:solidFill>
                  <a:srgbClr val="FF0000"/>
                </a:solidFill>
              </a:rPr>
              <a:t>i</a:t>
            </a:r>
            <a:r>
              <a:rPr lang="en-US" sz="1400" baseline="-25000" dirty="0">
                <a:solidFill>
                  <a:srgbClr val="FF0000"/>
                </a:solidFill>
              </a:rPr>
              <a:t>2</a:t>
            </a:r>
          </a:p>
        </p:txBody>
      </p:sp>
      <p:graphicFrame>
        <p:nvGraphicFramePr>
          <p:cNvPr id="17" name="Object 3">
            <a:extLst>
              <a:ext uri="{FF2B5EF4-FFF2-40B4-BE49-F238E27FC236}">
                <a16:creationId xmlns:a16="http://schemas.microsoft.com/office/drawing/2014/main" id="{B6D4228C-21CD-478E-90B9-8C152D8EDA5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25561673"/>
              </p:ext>
            </p:extLst>
          </p:nvPr>
        </p:nvGraphicFramePr>
        <p:xfrm>
          <a:off x="1140094" y="4933312"/>
          <a:ext cx="2446337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070000" imgH="419040" progId="Equation.DSMT4">
                  <p:embed/>
                </p:oleObj>
              </mc:Choice>
              <mc:Fallback>
                <p:oleObj name="Equation" r:id="rId7" imgW="2070000" imgH="419040" progId="Equation.DSMT4">
                  <p:embed/>
                  <p:pic>
                    <p:nvPicPr>
                      <p:cNvPr id="22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0094" y="4933312"/>
                        <a:ext cx="2446337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TextBox 22">
            <a:extLst>
              <a:ext uri="{FF2B5EF4-FFF2-40B4-BE49-F238E27FC236}">
                <a16:creationId xmlns:a16="http://schemas.microsoft.com/office/drawing/2014/main" id="{BCCB1E71-E835-4854-AAF0-E69CE05D9157}"/>
              </a:ext>
            </a:extLst>
          </p:cNvPr>
          <p:cNvSpPr txBox="1"/>
          <p:nvPr/>
        </p:nvSpPr>
        <p:spPr>
          <a:xfrm>
            <a:off x="3611543" y="4996296"/>
            <a:ext cx="9042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=&gt;KCL</a:t>
            </a:r>
          </a:p>
        </p:txBody>
      </p:sp>
      <p:sp>
        <p:nvSpPr>
          <p:cNvPr id="19" name="TextBox 23">
            <a:extLst>
              <a:ext uri="{FF2B5EF4-FFF2-40B4-BE49-F238E27FC236}">
                <a16:creationId xmlns:a16="http://schemas.microsoft.com/office/drawing/2014/main" id="{696D67ED-63B2-474A-B896-75DF0CD429A7}"/>
              </a:ext>
            </a:extLst>
          </p:cNvPr>
          <p:cNvSpPr txBox="1"/>
          <p:nvPr/>
        </p:nvSpPr>
        <p:spPr>
          <a:xfrm>
            <a:off x="1202007" y="5477553"/>
            <a:ext cx="2667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dirty="0">
                <a:solidFill>
                  <a:schemeClr val="accent6">
                    <a:lumMod val="50000"/>
                  </a:schemeClr>
                </a:solidFill>
              </a:rPr>
              <a:t>Eşitlik çözülür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:</a:t>
            </a:r>
          </a:p>
        </p:txBody>
      </p:sp>
      <p:graphicFrame>
        <p:nvGraphicFramePr>
          <p:cNvPr id="20" name="Object 3">
            <a:extLst>
              <a:ext uri="{FF2B5EF4-FFF2-40B4-BE49-F238E27FC236}">
                <a16:creationId xmlns:a16="http://schemas.microsoft.com/office/drawing/2014/main" id="{1DE1D80D-D777-4B3C-869B-91E59A46EAB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58251721"/>
              </p:ext>
            </p:extLst>
          </p:nvPr>
        </p:nvGraphicFramePr>
        <p:xfrm>
          <a:off x="1811318" y="5829585"/>
          <a:ext cx="3600450" cy="1093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920680" imgH="888840" progId="Equation.DSMT4">
                  <p:embed/>
                </p:oleObj>
              </mc:Choice>
              <mc:Fallback>
                <p:oleObj name="Equation" r:id="rId9" imgW="2920680" imgH="888840" progId="Equation.DSMT4">
                  <p:embed/>
                  <p:pic>
                    <p:nvPicPr>
                      <p:cNvPr id="25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11318" y="5829585"/>
                        <a:ext cx="3600450" cy="1093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Rectangle 25">
            <a:extLst>
              <a:ext uri="{FF2B5EF4-FFF2-40B4-BE49-F238E27FC236}">
                <a16:creationId xmlns:a16="http://schemas.microsoft.com/office/drawing/2014/main" id="{C72C3659-0B54-4497-94EF-2767B5F91360}"/>
              </a:ext>
            </a:extLst>
          </p:cNvPr>
          <p:cNvSpPr/>
          <p:nvPr/>
        </p:nvSpPr>
        <p:spPr>
          <a:xfrm>
            <a:off x="4890134" y="6421405"/>
            <a:ext cx="511591" cy="34857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3">
            <a:extLst>
              <a:ext uri="{FF2B5EF4-FFF2-40B4-BE49-F238E27FC236}">
                <a16:creationId xmlns:a16="http://schemas.microsoft.com/office/drawing/2014/main" id="{287D95A7-1515-4FDE-9B25-E4A264A09A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6300" y="2006622"/>
            <a:ext cx="1800015" cy="4687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 Narrow" pitchFamily="34" charset="0"/>
              <a:buChar char="•"/>
              <a:defRPr sz="2800">
                <a:solidFill>
                  <a:srgbClr val="000058"/>
                </a:solidFill>
                <a:latin typeface="+mn-lt"/>
                <a:ea typeface="ＭＳ Ｐゴシック" charset="-128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 Narrow" pitchFamily="34" charset="0"/>
              <a:buChar char="−"/>
              <a:defRPr sz="2400">
                <a:solidFill>
                  <a:srgbClr val="000058"/>
                </a:solidFill>
                <a:latin typeface="+mn-lt"/>
                <a:ea typeface="ＭＳ Ｐゴシック" charset="-128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 Narrow" pitchFamily="34" charset="0"/>
              <a:buChar char="•"/>
              <a:defRPr sz="2000">
                <a:solidFill>
                  <a:srgbClr val="000058"/>
                </a:solidFill>
                <a:latin typeface="+mn-lt"/>
                <a:ea typeface="ＭＳ Ｐゴシック" charset="-128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Ø"/>
              <a:defRPr>
                <a:solidFill>
                  <a:srgbClr val="000058"/>
                </a:solidFill>
                <a:latin typeface="+mn-lt"/>
                <a:ea typeface="ＭＳ Ｐゴシック" charset="-128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58"/>
                </a:solidFill>
                <a:latin typeface="+mn-lt"/>
                <a:ea typeface="ＭＳ Ｐゴシック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58"/>
                </a:solidFill>
                <a:latin typeface="+mn-lt"/>
                <a:ea typeface="ＭＳ Ｐゴシック" charset="-128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58"/>
                </a:solidFill>
                <a:latin typeface="+mn-lt"/>
                <a:ea typeface="ＭＳ Ｐゴシック" charset="-128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58"/>
                </a:solidFill>
                <a:latin typeface="+mn-lt"/>
                <a:ea typeface="ＭＳ Ｐゴシック" charset="-128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58"/>
                </a:solidFill>
                <a:latin typeface="+mn-lt"/>
                <a:ea typeface="ＭＳ Ｐゴシック" charset="-128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2000" kern="0" dirty="0">
                <a:solidFill>
                  <a:srgbClr val="FF0000"/>
                </a:solidFill>
              </a:rPr>
              <a:t>a) 1, b</a:t>
            </a:r>
            <a:r>
              <a:rPr lang="tr-TR" altLang="en-US" sz="2000" kern="0" dirty="0">
                <a:solidFill>
                  <a:srgbClr val="FF0000"/>
                </a:solidFill>
              </a:rPr>
              <a:t> düğümü</a:t>
            </a:r>
            <a:r>
              <a:rPr lang="en-US" altLang="en-US" sz="2000" kern="0" dirty="0">
                <a:solidFill>
                  <a:srgbClr val="FF0000"/>
                </a:solidFill>
              </a:rPr>
              <a:t>.</a:t>
            </a:r>
          </a:p>
        </p:txBody>
      </p:sp>
      <p:sp>
        <p:nvSpPr>
          <p:cNvPr id="23" name="TextBox 29">
            <a:extLst>
              <a:ext uri="{FF2B5EF4-FFF2-40B4-BE49-F238E27FC236}">
                <a16:creationId xmlns:a16="http://schemas.microsoft.com/office/drawing/2014/main" id="{92B1AA61-0DB3-4664-8F25-19A360B3409C}"/>
              </a:ext>
            </a:extLst>
          </p:cNvPr>
          <p:cNvSpPr txBox="1"/>
          <p:nvPr/>
        </p:nvSpPr>
        <p:spPr>
          <a:xfrm>
            <a:off x="5483494" y="3658250"/>
            <a:ext cx="2667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dirty="0">
                <a:solidFill>
                  <a:schemeClr val="accent6">
                    <a:lumMod val="50000"/>
                  </a:schemeClr>
                </a:solidFill>
              </a:rPr>
              <a:t>Artık </a:t>
            </a:r>
            <a:r>
              <a:rPr lang="en-US" dirty="0" err="1">
                <a:solidFill>
                  <a:schemeClr val="accent6">
                    <a:lumMod val="50000"/>
                  </a:schemeClr>
                </a:solidFill>
              </a:rPr>
              <a:t>I</a:t>
            </a:r>
            <a:r>
              <a:rPr lang="en-US" baseline="-25000" dirty="0" err="1">
                <a:solidFill>
                  <a:schemeClr val="accent6">
                    <a:lumMod val="50000"/>
                  </a:schemeClr>
                </a:solidFill>
              </a:rPr>
              <a:t>unk</a:t>
            </a:r>
            <a:r>
              <a:rPr lang="en-US" baseline="-25000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tr-TR" dirty="0">
                <a:solidFill>
                  <a:schemeClr val="accent6">
                    <a:lumMod val="50000"/>
                  </a:schemeClr>
                </a:solidFill>
              </a:rPr>
              <a:t>bulabiliriz.</a:t>
            </a:r>
            <a:endParaRPr lang="en-US" dirty="0">
              <a:solidFill>
                <a:schemeClr val="accent6">
                  <a:lumMod val="50000"/>
                </a:schemeClr>
              </a:solidFill>
            </a:endParaRPr>
          </a:p>
        </p:txBody>
      </p:sp>
      <p:graphicFrame>
        <p:nvGraphicFramePr>
          <p:cNvPr id="24" name="Object 3">
            <a:extLst>
              <a:ext uri="{FF2B5EF4-FFF2-40B4-BE49-F238E27FC236}">
                <a16:creationId xmlns:a16="http://schemas.microsoft.com/office/drawing/2014/main" id="{FB6AEAFD-4BA5-46DD-A599-F7D70F36010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01084817"/>
              </p:ext>
            </p:extLst>
          </p:nvPr>
        </p:nvGraphicFramePr>
        <p:xfrm>
          <a:off x="5748087" y="4082286"/>
          <a:ext cx="3295650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527200" imgH="419040" progId="Equation.DSMT4">
                  <p:embed/>
                </p:oleObj>
              </mc:Choice>
              <mc:Fallback>
                <p:oleObj name="Equation" r:id="rId11" imgW="2527200" imgH="419040" progId="Equation.DSMT4">
                  <p:embed/>
                  <p:pic>
                    <p:nvPicPr>
                      <p:cNvPr id="31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48087" y="4082286"/>
                        <a:ext cx="3295650" cy="546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TextBox 31">
            <a:extLst>
              <a:ext uri="{FF2B5EF4-FFF2-40B4-BE49-F238E27FC236}">
                <a16:creationId xmlns:a16="http://schemas.microsoft.com/office/drawing/2014/main" id="{8318A412-57AB-4A3E-9D23-50670004CECC}"/>
              </a:ext>
            </a:extLst>
          </p:cNvPr>
          <p:cNvSpPr txBox="1"/>
          <p:nvPr/>
        </p:nvSpPr>
        <p:spPr>
          <a:xfrm>
            <a:off x="5748087" y="4628721"/>
            <a:ext cx="1869007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FF0000"/>
                </a:solidFill>
              </a:rPr>
              <a:t>I</a:t>
            </a:r>
            <a:r>
              <a:rPr lang="en-US" baseline="-25000" dirty="0" err="1">
                <a:solidFill>
                  <a:srgbClr val="FF0000"/>
                </a:solidFill>
              </a:rPr>
              <a:t>unk</a:t>
            </a:r>
            <a:r>
              <a:rPr lang="en-US" baseline="-25000" dirty="0">
                <a:solidFill>
                  <a:srgbClr val="FF0000"/>
                </a:solidFill>
              </a:rPr>
              <a:t> </a:t>
            </a:r>
            <a:r>
              <a:rPr lang="en-US" dirty="0">
                <a:solidFill>
                  <a:srgbClr val="FF0000"/>
                </a:solidFill>
              </a:rPr>
              <a:t>= -I</a:t>
            </a:r>
            <a:r>
              <a:rPr lang="en-US" baseline="-25000" dirty="0">
                <a:solidFill>
                  <a:srgbClr val="FF0000"/>
                </a:solidFill>
              </a:rPr>
              <a:t>3 </a:t>
            </a:r>
            <a:r>
              <a:rPr lang="en-US" dirty="0">
                <a:solidFill>
                  <a:srgbClr val="FF0000"/>
                </a:solidFill>
              </a:rPr>
              <a:t>= 185mA</a:t>
            </a:r>
            <a:endParaRPr lang="en-US" baseline="-25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498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  <p:bldP spid="13" grpId="0"/>
      <p:bldP spid="14" grpId="0"/>
      <p:bldP spid="15" grpId="0"/>
      <p:bldP spid="16" grpId="0"/>
      <p:bldP spid="18" grpId="0"/>
      <p:bldP spid="19" grpId="0"/>
      <p:bldP spid="21" grpId="0" animBg="1"/>
      <p:bldP spid="22" grpId="0"/>
      <p:bldP spid="23" grpId="0"/>
      <p:bldP spid="2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1B5BE94-ACF9-4E99-A710-782CE6B082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Örnek</a:t>
            </a:r>
            <a:endParaRPr lang="en-US" dirty="0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F654D723-6608-4574-834C-66BFD2057D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2178" y="1748853"/>
            <a:ext cx="4038600" cy="18821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" name="Straight Arrow Connector 2">
            <a:extLst>
              <a:ext uri="{FF2B5EF4-FFF2-40B4-BE49-F238E27FC236}">
                <a16:creationId xmlns:a16="http://schemas.microsoft.com/office/drawing/2014/main" id="{A94BA578-5C57-4A77-814A-ED6FBF252419}"/>
              </a:ext>
            </a:extLst>
          </p:cNvPr>
          <p:cNvCxnSpPr/>
          <p:nvPr/>
        </p:nvCxnSpPr>
        <p:spPr>
          <a:xfrm>
            <a:off x="7974111" y="2415671"/>
            <a:ext cx="633855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6">
            <a:extLst>
              <a:ext uri="{FF2B5EF4-FFF2-40B4-BE49-F238E27FC236}">
                <a16:creationId xmlns:a16="http://schemas.microsoft.com/office/drawing/2014/main" id="{E4631132-41E8-44FA-9B74-E8FFC032A82D}"/>
              </a:ext>
            </a:extLst>
          </p:cNvPr>
          <p:cNvCxnSpPr/>
          <p:nvPr/>
        </p:nvCxnSpPr>
        <p:spPr>
          <a:xfrm flipH="1">
            <a:off x="6998234" y="2415671"/>
            <a:ext cx="72390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7">
            <a:extLst>
              <a:ext uri="{FF2B5EF4-FFF2-40B4-BE49-F238E27FC236}">
                <a16:creationId xmlns:a16="http://schemas.microsoft.com/office/drawing/2014/main" id="{3F89CF9C-0955-4EBC-9BD5-2D6B4DF4A947}"/>
              </a:ext>
            </a:extLst>
          </p:cNvPr>
          <p:cNvCxnSpPr/>
          <p:nvPr/>
        </p:nvCxnSpPr>
        <p:spPr>
          <a:xfrm>
            <a:off x="7730078" y="2387620"/>
            <a:ext cx="0" cy="76200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8">
            <a:extLst>
              <a:ext uri="{FF2B5EF4-FFF2-40B4-BE49-F238E27FC236}">
                <a16:creationId xmlns:a16="http://schemas.microsoft.com/office/drawing/2014/main" id="{7414564B-A97C-4251-8274-1558F6D3515A}"/>
              </a:ext>
            </a:extLst>
          </p:cNvPr>
          <p:cNvSpPr txBox="1"/>
          <p:nvPr/>
        </p:nvSpPr>
        <p:spPr>
          <a:xfrm>
            <a:off x="838200" y="2321742"/>
            <a:ext cx="30614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dirty="0">
                <a:solidFill>
                  <a:schemeClr val="accent6">
                    <a:lumMod val="50000"/>
                  </a:schemeClr>
                </a:solidFill>
              </a:rPr>
              <a:t>b düğümü etrafındaki akımlar çizilir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.</a:t>
            </a:r>
          </a:p>
        </p:txBody>
      </p:sp>
      <p:sp>
        <p:nvSpPr>
          <p:cNvPr id="9" name="TextBox 13">
            <a:extLst>
              <a:ext uri="{FF2B5EF4-FFF2-40B4-BE49-F238E27FC236}">
                <a16:creationId xmlns:a16="http://schemas.microsoft.com/office/drawing/2014/main" id="{E81A77CF-C215-4853-AE50-642C9DC14335}"/>
              </a:ext>
            </a:extLst>
          </p:cNvPr>
          <p:cNvSpPr txBox="1"/>
          <p:nvPr/>
        </p:nvSpPr>
        <p:spPr>
          <a:xfrm>
            <a:off x="838200" y="1952410"/>
            <a:ext cx="34628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dirty="0">
                <a:solidFill>
                  <a:schemeClr val="accent6">
                    <a:lumMod val="50000"/>
                  </a:schemeClr>
                </a:solidFill>
              </a:rPr>
              <a:t>Düğümler belirlenir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: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a, b, c </a:t>
            </a:r>
            <a:r>
              <a:rPr lang="tr-TR" b="1" dirty="0">
                <a:solidFill>
                  <a:schemeClr val="accent6">
                    <a:lumMod val="50000"/>
                  </a:schemeClr>
                </a:solidFill>
              </a:rPr>
              <a:t>ve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d</a:t>
            </a:r>
          </a:p>
        </p:txBody>
      </p:sp>
      <p:sp>
        <p:nvSpPr>
          <p:cNvPr id="10" name="TextBox 16">
            <a:extLst>
              <a:ext uri="{FF2B5EF4-FFF2-40B4-BE49-F238E27FC236}">
                <a16:creationId xmlns:a16="http://schemas.microsoft.com/office/drawing/2014/main" id="{AF69FFEF-53DF-4E37-9B4A-5F75E1057361}"/>
              </a:ext>
            </a:extLst>
          </p:cNvPr>
          <p:cNvSpPr txBox="1"/>
          <p:nvPr/>
        </p:nvSpPr>
        <p:spPr>
          <a:xfrm>
            <a:off x="868538" y="2922385"/>
            <a:ext cx="2667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dirty="0">
                <a:solidFill>
                  <a:schemeClr val="accent6">
                    <a:lumMod val="50000"/>
                  </a:schemeClr>
                </a:solidFill>
              </a:rPr>
              <a:t>Denklemler yazılır;</a:t>
            </a:r>
            <a:endParaRPr lang="en-US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1" name="TextBox 9">
            <a:extLst>
              <a:ext uri="{FF2B5EF4-FFF2-40B4-BE49-F238E27FC236}">
                <a16:creationId xmlns:a16="http://schemas.microsoft.com/office/drawing/2014/main" id="{BC2F1E0E-24BB-4AB0-8B58-BD204770D2B3}"/>
              </a:ext>
            </a:extLst>
          </p:cNvPr>
          <p:cNvSpPr txBox="1"/>
          <p:nvPr/>
        </p:nvSpPr>
        <p:spPr>
          <a:xfrm>
            <a:off x="7038900" y="2433164"/>
            <a:ext cx="381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I</a:t>
            </a:r>
            <a:r>
              <a:rPr lang="en-US" sz="1400" baseline="-25000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12" name="TextBox 18">
            <a:extLst>
              <a:ext uri="{FF2B5EF4-FFF2-40B4-BE49-F238E27FC236}">
                <a16:creationId xmlns:a16="http://schemas.microsoft.com/office/drawing/2014/main" id="{58CF968D-3C53-4D03-AF48-FC5CA096409B}"/>
              </a:ext>
            </a:extLst>
          </p:cNvPr>
          <p:cNvSpPr txBox="1"/>
          <p:nvPr/>
        </p:nvSpPr>
        <p:spPr>
          <a:xfrm>
            <a:off x="8291038" y="2367338"/>
            <a:ext cx="381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I</a:t>
            </a:r>
            <a:r>
              <a:rPr lang="en-US" sz="1400" baseline="-25000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13" name="TextBox 19">
            <a:extLst>
              <a:ext uri="{FF2B5EF4-FFF2-40B4-BE49-F238E27FC236}">
                <a16:creationId xmlns:a16="http://schemas.microsoft.com/office/drawing/2014/main" id="{F733DB1D-5D27-436C-85FB-DA27A9E37F9B}"/>
              </a:ext>
            </a:extLst>
          </p:cNvPr>
          <p:cNvSpPr txBox="1"/>
          <p:nvPr/>
        </p:nvSpPr>
        <p:spPr>
          <a:xfrm>
            <a:off x="7360184" y="2870172"/>
            <a:ext cx="381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I</a:t>
            </a:r>
            <a:r>
              <a:rPr lang="en-US" sz="1400" baseline="-25000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14" name="TextBox 23">
            <a:extLst>
              <a:ext uri="{FF2B5EF4-FFF2-40B4-BE49-F238E27FC236}">
                <a16:creationId xmlns:a16="http://schemas.microsoft.com/office/drawing/2014/main" id="{8E661C4D-EE6C-4191-BE38-A8AB95D9230E}"/>
              </a:ext>
            </a:extLst>
          </p:cNvPr>
          <p:cNvSpPr txBox="1"/>
          <p:nvPr/>
        </p:nvSpPr>
        <p:spPr>
          <a:xfrm>
            <a:off x="875288" y="3870461"/>
            <a:ext cx="34432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dirty="0">
                <a:solidFill>
                  <a:schemeClr val="accent6">
                    <a:lumMod val="50000"/>
                  </a:schemeClr>
                </a:solidFill>
              </a:rPr>
              <a:t>Eşitlik çözülür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:</a:t>
            </a:r>
          </a:p>
        </p:txBody>
      </p:sp>
      <p:graphicFrame>
        <p:nvGraphicFramePr>
          <p:cNvPr id="15" name="Object 3">
            <a:extLst>
              <a:ext uri="{FF2B5EF4-FFF2-40B4-BE49-F238E27FC236}">
                <a16:creationId xmlns:a16="http://schemas.microsoft.com/office/drawing/2014/main" id="{04A0907C-B269-4262-A77F-04156716000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42246069"/>
              </p:ext>
            </p:extLst>
          </p:nvPr>
        </p:nvGraphicFramePr>
        <p:xfrm>
          <a:off x="1253078" y="5046705"/>
          <a:ext cx="2425700" cy="1655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968480" imgH="1346040" progId="Equation.DSMT4">
                  <p:embed/>
                </p:oleObj>
              </mc:Choice>
              <mc:Fallback>
                <p:oleObj name="Equation" r:id="rId3" imgW="1968480" imgH="1346040" progId="Equation.DSMT4">
                  <p:embed/>
                  <p:pic>
                    <p:nvPicPr>
                      <p:cNvPr id="25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3078" y="5046705"/>
                        <a:ext cx="2425700" cy="1655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tangle 25">
            <a:extLst>
              <a:ext uri="{FF2B5EF4-FFF2-40B4-BE49-F238E27FC236}">
                <a16:creationId xmlns:a16="http://schemas.microsoft.com/office/drawing/2014/main" id="{0E9C593A-0563-4B9E-ADBA-8EBDB0DFE751}"/>
              </a:ext>
            </a:extLst>
          </p:cNvPr>
          <p:cNvSpPr/>
          <p:nvPr/>
        </p:nvSpPr>
        <p:spPr>
          <a:xfrm>
            <a:off x="1557878" y="6425750"/>
            <a:ext cx="533400" cy="27671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29">
            <a:extLst>
              <a:ext uri="{FF2B5EF4-FFF2-40B4-BE49-F238E27FC236}">
                <a16:creationId xmlns:a16="http://schemas.microsoft.com/office/drawing/2014/main" id="{6940ED30-2D9C-474E-BFD8-65FFA4F0F194}"/>
              </a:ext>
            </a:extLst>
          </p:cNvPr>
          <p:cNvSpPr txBox="1"/>
          <p:nvPr/>
        </p:nvSpPr>
        <p:spPr>
          <a:xfrm>
            <a:off x="5323969" y="3805178"/>
            <a:ext cx="2667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Now find </a:t>
            </a:r>
            <a:r>
              <a:rPr lang="en-US" dirty="0" err="1">
                <a:solidFill>
                  <a:schemeClr val="accent6">
                    <a:lumMod val="50000"/>
                  </a:schemeClr>
                </a:solidFill>
              </a:rPr>
              <a:t>I</a:t>
            </a:r>
            <a:r>
              <a:rPr lang="en-US" baseline="-25000" dirty="0" err="1">
                <a:solidFill>
                  <a:schemeClr val="accent6">
                    <a:lumMod val="50000"/>
                  </a:schemeClr>
                </a:solidFill>
              </a:rPr>
              <a:t>unk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:</a:t>
            </a:r>
          </a:p>
        </p:txBody>
      </p:sp>
      <p:graphicFrame>
        <p:nvGraphicFramePr>
          <p:cNvPr id="18" name="Object 3">
            <a:extLst>
              <a:ext uri="{FF2B5EF4-FFF2-40B4-BE49-F238E27FC236}">
                <a16:creationId xmlns:a16="http://schemas.microsoft.com/office/drawing/2014/main" id="{2FF65545-6B59-45C0-9993-E5B866A2AB0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71724118"/>
              </p:ext>
            </p:extLst>
          </p:nvPr>
        </p:nvGraphicFramePr>
        <p:xfrm>
          <a:off x="5517103" y="4164013"/>
          <a:ext cx="3527425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705040" imgH="419040" progId="Equation.DSMT4">
                  <p:embed/>
                </p:oleObj>
              </mc:Choice>
              <mc:Fallback>
                <p:oleObj name="Equation" r:id="rId5" imgW="2705040" imgH="419040" progId="Equation.DSMT4">
                  <p:embed/>
                  <p:pic>
                    <p:nvPicPr>
                      <p:cNvPr id="31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17103" y="4164013"/>
                        <a:ext cx="3527425" cy="546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Rectangle 3">
            <a:extLst>
              <a:ext uri="{FF2B5EF4-FFF2-40B4-BE49-F238E27FC236}">
                <a16:creationId xmlns:a16="http://schemas.microsoft.com/office/drawing/2014/main" id="{97CF6A96-72F4-43DF-BFD6-6453A5A93938}"/>
              </a:ext>
            </a:extLst>
          </p:cNvPr>
          <p:cNvSpPr txBox="1">
            <a:spLocks noChangeArrowheads="1"/>
          </p:cNvSpPr>
          <p:nvPr/>
        </p:nvSpPr>
        <p:spPr>
          <a:xfrm>
            <a:off x="872078" y="1347788"/>
            <a:ext cx="7924800" cy="685800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tr-TR" altLang="en-US" sz="2400" dirty="0"/>
              <a:t>c düğümündeki gerilimi ve </a:t>
            </a:r>
            <a:r>
              <a:rPr lang="en-US" altLang="en-US" sz="2400" kern="0" dirty="0"/>
              <a:t>I</a:t>
            </a:r>
            <a:r>
              <a:rPr lang="en-US" altLang="en-US" sz="2400" kern="0" baseline="-25000" dirty="0"/>
              <a:t>UNK </a:t>
            </a:r>
            <a:r>
              <a:rPr lang="tr-TR" altLang="en-US" sz="2400" dirty="0"/>
              <a:t>bulunuz.</a:t>
            </a:r>
            <a:endParaRPr lang="en-US" altLang="en-US" sz="2400" dirty="0"/>
          </a:p>
        </p:txBody>
      </p:sp>
      <p:sp>
        <p:nvSpPr>
          <p:cNvPr id="20" name="TextBox 3">
            <a:extLst>
              <a:ext uri="{FF2B5EF4-FFF2-40B4-BE49-F238E27FC236}">
                <a16:creationId xmlns:a16="http://schemas.microsoft.com/office/drawing/2014/main" id="{16C860ED-01F0-47F6-A0FA-7A2FADA2B236}"/>
              </a:ext>
            </a:extLst>
          </p:cNvPr>
          <p:cNvSpPr txBox="1"/>
          <p:nvPr/>
        </p:nvSpPr>
        <p:spPr>
          <a:xfrm>
            <a:off x="1191926" y="3446382"/>
            <a:ext cx="2362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K</a:t>
            </a:r>
            <a:r>
              <a:rPr lang="tr-TR" dirty="0">
                <a:solidFill>
                  <a:srgbClr val="FF0000"/>
                </a:solidFill>
              </a:rPr>
              <a:t>AK</a:t>
            </a:r>
            <a:r>
              <a:rPr lang="en-US" baseline="-25000" dirty="0">
                <a:solidFill>
                  <a:srgbClr val="FF0000"/>
                </a:solidFill>
              </a:rPr>
              <a:t>C</a:t>
            </a:r>
            <a:r>
              <a:rPr lang="en-US" dirty="0">
                <a:solidFill>
                  <a:srgbClr val="FF0000"/>
                </a:solidFill>
              </a:rPr>
              <a:t> = </a:t>
            </a:r>
            <a:r>
              <a:rPr lang="en-US" i="1" dirty="0">
                <a:solidFill>
                  <a:srgbClr val="FF0000"/>
                </a:solidFill>
              </a:rPr>
              <a:t>I</a:t>
            </a:r>
            <a:r>
              <a:rPr lang="en-US" i="1" baseline="-25000" dirty="0">
                <a:solidFill>
                  <a:srgbClr val="FF0000"/>
                </a:solidFill>
              </a:rPr>
              <a:t>1</a:t>
            </a:r>
            <a:r>
              <a:rPr lang="en-US" i="1" dirty="0">
                <a:solidFill>
                  <a:srgbClr val="FF0000"/>
                </a:solidFill>
              </a:rPr>
              <a:t>+I</a:t>
            </a:r>
            <a:r>
              <a:rPr lang="en-US" i="1" baseline="-25000" dirty="0">
                <a:solidFill>
                  <a:srgbClr val="FF0000"/>
                </a:solidFill>
              </a:rPr>
              <a:t>2</a:t>
            </a:r>
            <a:r>
              <a:rPr lang="en-US" i="1" dirty="0">
                <a:solidFill>
                  <a:srgbClr val="FF0000"/>
                </a:solidFill>
              </a:rPr>
              <a:t>+I</a:t>
            </a:r>
            <a:r>
              <a:rPr lang="en-US" i="1" baseline="-25000" dirty="0">
                <a:solidFill>
                  <a:srgbClr val="FF0000"/>
                </a:solidFill>
              </a:rPr>
              <a:t>3</a:t>
            </a:r>
            <a:r>
              <a:rPr lang="en-US" dirty="0">
                <a:solidFill>
                  <a:srgbClr val="FF0000"/>
                </a:solidFill>
              </a:rPr>
              <a:t>=0</a:t>
            </a:r>
          </a:p>
        </p:txBody>
      </p:sp>
      <p:sp>
        <p:nvSpPr>
          <p:cNvPr id="21" name="Rectangle 35">
            <a:extLst>
              <a:ext uri="{FF2B5EF4-FFF2-40B4-BE49-F238E27FC236}">
                <a16:creationId xmlns:a16="http://schemas.microsoft.com/office/drawing/2014/main" id="{94812DD3-C718-4BF6-BBF6-90C48E5B297F}"/>
              </a:ext>
            </a:extLst>
          </p:cNvPr>
          <p:cNvSpPr/>
          <p:nvPr/>
        </p:nvSpPr>
        <p:spPr>
          <a:xfrm>
            <a:off x="8285287" y="4321328"/>
            <a:ext cx="759241" cy="23146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7047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  <p:bldP spid="12" grpId="0"/>
      <p:bldP spid="13" grpId="0"/>
      <p:bldP spid="14" grpId="0"/>
      <p:bldP spid="16" grpId="0" animBg="1"/>
      <p:bldP spid="17" grpId="0"/>
      <p:bldP spid="20" grpId="0"/>
      <p:bldP spid="2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B333190-9694-4439-9DF0-86FB4A0BFD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Akım Kaynakları</a:t>
            </a:r>
            <a:endParaRPr lang="en-US" dirty="0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B2FECFC9-FEA0-4A75-B71D-CB608F953FC4}"/>
              </a:ext>
            </a:extLst>
          </p:cNvPr>
          <p:cNvSpPr txBox="1">
            <a:spLocks noChangeArrowheads="1"/>
          </p:cNvSpPr>
          <p:nvPr/>
        </p:nvSpPr>
        <p:spPr>
          <a:xfrm>
            <a:off x="1071154" y="1690688"/>
            <a:ext cx="8229600" cy="1325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2400" dirty="0" err="1"/>
              <a:t>Akım</a:t>
            </a:r>
            <a:r>
              <a:rPr lang="en-US" altLang="en-US" sz="2400" dirty="0"/>
              <a:t> </a:t>
            </a:r>
            <a:r>
              <a:rPr lang="en-US" altLang="en-US" sz="2400" dirty="0" err="1"/>
              <a:t>kaynağı</a:t>
            </a:r>
            <a:r>
              <a:rPr lang="en-US" altLang="en-US" sz="2400" dirty="0"/>
              <a:t> </a:t>
            </a:r>
            <a:r>
              <a:rPr lang="en-US" altLang="en-US" sz="2400" dirty="0" err="1"/>
              <a:t>denklemleri</a:t>
            </a:r>
            <a:r>
              <a:rPr lang="en-US" altLang="en-US" sz="2400" dirty="0"/>
              <a:t> </a:t>
            </a:r>
            <a:r>
              <a:rPr lang="en-US" altLang="en-US" sz="2400" dirty="0" err="1"/>
              <a:t>daha</a:t>
            </a:r>
            <a:r>
              <a:rPr lang="en-US" altLang="en-US" sz="2400" dirty="0"/>
              <a:t> </a:t>
            </a:r>
            <a:r>
              <a:rPr lang="en-US" altLang="en-US" sz="2400" dirty="0" err="1"/>
              <a:t>basit</a:t>
            </a:r>
            <a:r>
              <a:rPr lang="en-US" altLang="en-US" sz="2400" dirty="0"/>
              <a:t> hale </a:t>
            </a:r>
            <a:r>
              <a:rPr lang="en-US" altLang="en-US" sz="2400" dirty="0" err="1"/>
              <a:t>getirir</a:t>
            </a:r>
            <a:r>
              <a:rPr lang="en-US" altLang="en-US" sz="2400" dirty="0"/>
              <a:t>, </a:t>
            </a:r>
            <a:r>
              <a:rPr lang="en-US" altLang="en-US" sz="2400" dirty="0" err="1"/>
              <a:t>çünkü</a:t>
            </a:r>
            <a:r>
              <a:rPr lang="en-US" altLang="en-US" sz="2400" dirty="0"/>
              <a:t> </a:t>
            </a:r>
            <a:r>
              <a:rPr lang="en-US" altLang="en-US" sz="2400" dirty="0" err="1"/>
              <a:t>artık</a:t>
            </a:r>
            <a:r>
              <a:rPr lang="en-US" altLang="en-US" sz="2400" dirty="0"/>
              <a:t> dal </a:t>
            </a:r>
            <a:r>
              <a:rPr lang="en-US" altLang="en-US" sz="2400" dirty="0" err="1"/>
              <a:t>akımının</a:t>
            </a:r>
            <a:r>
              <a:rPr lang="en-US" altLang="en-US" sz="2400" dirty="0"/>
              <a:t> ne </a:t>
            </a:r>
            <a:r>
              <a:rPr lang="en-US" altLang="en-US" sz="2400" dirty="0" err="1"/>
              <a:t>olduğunu</a:t>
            </a:r>
            <a:r>
              <a:rPr lang="en-US" altLang="en-US" sz="2400" dirty="0"/>
              <a:t> </a:t>
            </a:r>
            <a:r>
              <a:rPr lang="en-US" altLang="en-US" sz="2400" dirty="0" err="1"/>
              <a:t>biliyoruz</a:t>
            </a:r>
            <a:r>
              <a:rPr lang="en-US" altLang="en-US" sz="2400" dirty="0"/>
              <a:t>.</a:t>
            </a:r>
          </a:p>
          <a:p>
            <a:r>
              <a:rPr lang="en-US" altLang="en-US" sz="2400" dirty="0"/>
              <a:t>POLARİTEYE DİKKAT!</a:t>
            </a:r>
          </a:p>
        </p:txBody>
      </p:sp>
      <p:graphicFrame>
        <p:nvGraphicFramePr>
          <p:cNvPr id="5" name="Object 6">
            <a:extLst>
              <a:ext uri="{FF2B5EF4-FFF2-40B4-BE49-F238E27FC236}">
                <a16:creationId xmlns:a16="http://schemas.microsoft.com/office/drawing/2014/main" id="{BABB79E7-A356-4250-9D09-FC441FA6534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27398543"/>
              </p:ext>
            </p:extLst>
          </p:nvPr>
        </p:nvGraphicFramePr>
        <p:xfrm>
          <a:off x="6176554" y="3290888"/>
          <a:ext cx="2901950" cy="2598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206360" imgH="1079280" progId="Equation.DSMT4">
                  <p:embed/>
                </p:oleObj>
              </mc:Choice>
              <mc:Fallback>
                <p:oleObj name="Equation" r:id="rId2" imgW="1206360" imgH="1079280" progId="Equation.DSMT4">
                  <p:embed/>
                  <p:pic>
                    <p:nvPicPr>
                      <p:cNvPr id="997382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76554" y="3290888"/>
                        <a:ext cx="2901950" cy="2598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9">
            <a:extLst>
              <a:ext uri="{FF2B5EF4-FFF2-40B4-BE49-F238E27FC236}">
                <a16:creationId xmlns:a16="http://schemas.microsoft.com/office/drawing/2014/main" id="{3233ED50-1647-456A-9286-4D77F52596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3168651"/>
            <a:ext cx="5211762" cy="2547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633405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2BF3F181-94F0-4C45-A9C8-DAF3E4B5B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67441"/>
          </a:xfrm>
        </p:spPr>
        <p:txBody>
          <a:bodyPr/>
          <a:lstStyle/>
          <a:p>
            <a:r>
              <a:rPr lang="tr-TR" dirty="0"/>
              <a:t>Örnek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7404784-D1D8-427F-9CD8-4F2408063A30}"/>
              </a:ext>
            </a:extLst>
          </p:cNvPr>
          <p:cNvSpPr txBox="1">
            <a:spLocks noChangeArrowheads="1"/>
          </p:cNvSpPr>
          <p:nvPr/>
        </p:nvSpPr>
        <p:spPr>
          <a:xfrm>
            <a:off x="728685" y="1519056"/>
            <a:ext cx="3352800" cy="609600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tr-TR" altLang="en-US" sz="2400" dirty="0"/>
              <a:t>DGY ile </a:t>
            </a:r>
            <a:r>
              <a:rPr lang="en-US" altLang="en-US" sz="2400" dirty="0" err="1"/>
              <a:t>V</a:t>
            </a:r>
            <a:r>
              <a:rPr lang="en-US" altLang="en-US" sz="2400" baseline="-25000" dirty="0" err="1"/>
              <a:t>b</a:t>
            </a:r>
            <a:r>
              <a:rPr lang="tr-TR" altLang="en-US" sz="2400" dirty="0"/>
              <a:t> bulunuz</a:t>
            </a:r>
            <a:endParaRPr lang="en-US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5" name="TextBox 8">
            <a:extLst>
              <a:ext uri="{FF2B5EF4-FFF2-40B4-BE49-F238E27FC236}">
                <a16:creationId xmlns:a16="http://schemas.microsoft.com/office/drawing/2014/main" id="{5EAADE6A-5850-4CA1-AA9C-81B96DF95139}"/>
              </a:ext>
            </a:extLst>
          </p:cNvPr>
          <p:cNvSpPr txBox="1"/>
          <p:nvPr/>
        </p:nvSpPr>
        <p:spPr>
          <a:xfrm>
            <a:off x="767739" y="1942924"/>
            <a:ext cx="46530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dirty="0">
                <a:solidFill>
                  <a:schemeClr val="accent6">
                    <a:lumMod val="50000"/>
                  </a:schemeClr>
                </a:solidFill>
              </a:rPr>
              <a:t>b düğümü etrafındaki akımlar çizilir. </a:t>
            </a:r>
            <a:endParaRPr lang="en-US" dirty="0">
              <a:solidFill>
                <a:schemeClr val="accent6">
                  <a:lumMod val="50000"/>
                </a:schemeClr>
              </a:solidFill>
            </a:endParaRPr>
          </a:p>
        </p:txBody>
      </p:sp>
      <p:graphicFrame>
        <p:nvGraphicFramePr>
          <p:cNvPr id="7" name="Object 3">
            <a:extLst>
              <a:ext uri="{FF2B5EF4-FFF2-40B4-BE49-F238E27FC236}">
                <a16:creationId xmlns:a16="http://schemas.microsoft.com/office/drawing/2014/main" id="{E439B02C-4330-4CAC-9558-3509C17399A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38213608"/>
              </p:ext>
            </p:extLst>
          </p:nvPr>
        </p:nvGraphicFramePr>
        <p:xfrm>
          <a:off x="1445398" y="2460975"/>
          <a:ext cx="1573213" cy="1406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206360" imgH="1079280" progId="Equation.DSMT4">
                  <p:embed/>
                </p:oleObj>
              </mc:Choice>
              <mc:Fallback>
                <p:oleObj name="Equation" r:id="rId2" imgW="1206360" imgH="1079280" progId="Equation.DSMT4">
                  <p:embed/>
                  <p:pic>
                    <p:nvPicPr>
                      <p:cNvPr id="15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5398" y="2460975"/>
                        <a:ext cx="1573213" cy="1406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16">
            <a:extLst>
              <a:ext uri="{FF2B5EF4-FFF2-40B4-BE49-F238E27FC236}">
                <a16:creationId xmlns:a16="http://schemas.microsoft.com/office/drawing/2014/main" id="{1C89141D-B0AB-493A-B480-A8AF5C770B80}"/>
              </a:ext>
            </a:extLst>
          </p:cNvPr>
          <p:cNvSpPr txBox="1"/>
          <p:nvPr/>
        </p:nvSpPr>
        <p:spPr>
          <a:xfrm>
            <a:off x="845875" y="4235084"/>
            <a:ext cx="32356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dirty="0">
                <a:solidFill>
                  <a:schemeClr val="accent6">
                    <a:lumMod val="50000"/>
                  </a:schemeClr>
                </a:solidFill>
              </a:rPr>
              <a:t>Denklemler yazılır;</a:t>
            </a:r>
            <a:endParaRPr lang="en-US" dirty="0">
              <a:solidFill>
                <a:schemeClr val="accent6">
                  <a:lumMod val="50000"/>
                </a:schemeClr>
              </a:solidFill>
            </a:endParaRPr>
          </a:p>
        </p:txBody>
      </p:sp>
      <p:graphicFrame>
        <p:nvGraphicFramePr>
          <p:cNvPr id="9" name="Object 3">
            <a:extLst>
              <a:ext uri="{FF2B5EF4-FFF2-40B4-BE49-F238E27FC236}">
                <a16:creationId xmlns:a16="http://schemas.microsoft.com/office/drawing/2014/main" id="{0AD56FB6-5655-403A-90EA-564D2A90B2F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2262398"/>
              </p:ext>
            </p:extLst>
          </p:nvPr>
        </p:nvGraphicFramePr>
        <p:xfrm>
          <a:off x="1445398" y="5030134"/>
          <a:ext cx="1831975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549080" imgH="419040" progId="Equation.DSMT4">
                  <p:embed/>
                </p:oleObj>
              </mc:Choice>
              <mc:Fallback>
                <p:oleObj name="Equation" r:id="rId4" imgW="1549080" imgH="419040" progId="Equation.DSMT4">
                  <p:embed/>
                  <p:pic>
                    <p:nvPicPr>
                      <p:cNvPr id="22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5398" y="5030134"/>
                        <a:ext cx="1831975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Picture 6">
            <a:extLst>
              <a:ext uri="{FF2B5EF4-FFF2-40B4-BE49-F238E27FC236}">
                <a16:creationId xmlns:a16="http://schemas.microsoft.com/office/drawing/2014/main" id="{7AD3819A-1C47-4790-85C4-D5DCF17DCC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1551" y="3229363"/>
            <a:ext cx="4753929" cy="23807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1" name="Object 3">
            <a:extLst>
              <a:ext uri="{FF2B5EF4-FFF2-40B4-BE49-F238E27FC236}">
                <a16:creationId xmlns:a16="http://schemas.microsoft.com/office/drawing/2014/main" id="{EC5DFFF6-35E6-47A8-A8F4-9A5453FD370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2484653"/>
              </p:ext>
            </p:extLst>
          </p:nvPr>
        </p:nvGraphicFramePr>
        <p:xfrm>
          <a:off x="1445398" y="5544158"/>
          <a:ext cx="184785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562040" imgH="419040" progId="Equation.DSMT4">
                  <p:embed/>
                </p:oleObj>
              </mc:Choice>
              <mc:Fallback>
                <p:oleObj name="Equation" r:id="rId7" imgW="1562040" imgH="419040" progId="Equation.DSMT4">
                  <p:embed/>
                  <p:pic>
                    <p:nvPicPr>
                      <p:cNvPr id="27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5398" y="5544158"/>
                        <a:ext cx="1847850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3">
            <a:extLst>
              <a:ext uri="{FF2B5EF4-FFF2-40B4-BE49-F238E27FC236}">
                <a16:creationId xmlns:a16="http://schemas.microsoft.com/office/drawing/2014/main" id="{DB71BF12-A952-48D8-84C6-AC05F4F87E2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60203355"/>
              </p:ext>
            </p:extLst>
          </p:nvPr>
        </p:nvGraphicFramePr>
        <p:xfrm>
          <a:off x="1445398" y="6041089"/>
          <a:ext cx="1922462" cy="509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625400" imgH="431640" progId="Equation.DSMT4">
                  <p:embed/>
                </p:oleObj>
              </mc:Choice>
              <mc:Fallback>
                <p:oleObj name="Equation" r:id="rId9" imgW="1625400" imgH="431640" progId="Equation.DSMT4">
                  <p:embed/>
                  <p:pic>
                    <p:nvPicPr>
                      <p:cNvPr id="28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5398" y="6041089"/>
                        <a:ext cx="1922462" cy="509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3">
            <a:extLst>
              <a:ext uri="{FF2B5EF4-FFF2-40B4-BE49-F238E27FC236}">
                <a16:creationId xmlns:a16="http://schemas.microsoft.com/office/drawing/2014/main" id="{DDA282B7-4E77-49F4-9EE2-320B68055A2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45299761"/>
              </p:ext>
            </p:extLst>
          </p:nvPr>
        </p:nvGraphicFramePr>
        <p:xfrm>
          <a:off x="1445398" y="6588125"/>
          <a:ext cx="811212" cy="269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685800" imgH="228600" progId="Equation.DSMT4">
                  <p:embed/>
                </p:oleObj>
              </mc:Choice>
              <mc:Fallback>
                <p:oleObj name="Equation" r:id="rId11" imgW="685800" imgH="228600" progId="Equation.DSMT4">
                  <p:embed/>
                  <p:pic>
                    <p:nvPicPr>
                      <p:cNvPr id="29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5398" y="6588125"/>
                        <a:ext cx="811212" cy="269875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rgbClr val="FF0000"/>
                        </a:solidFill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718113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9AE4235-45CF-40DC-BCDC-0AD8FB7165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Örnek</a:t>
            </a:r>
            <a:endParaRPr lang="en-US" dirty="0"/>
          </a:p>
        </p:txBody>
      </p:sp>
      <p:pic>
        <p:nvPicPr>
          <p:cNvPr id="5" name="Picture 13">
            <a:extLst>
              <a:ext uri="{FF2B5EF4-FFF2-40B4-BE49-F238E27FC236}">
                <a16:creationId xmlns:a16="http://schemas.microsoft.com/office/drawing/2014/main" id="{F1A6F36A-AE09-4FB0-BA91-806294ECE1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175805"/>
            <a:ext cx="4743450" cy="18714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D72B96E-AA6B-4907-BF94-BAFC177C65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1337017"/>
            <a:ext cx="8229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 Narrow" pitchFamily="34" charset="0"/>
              <a:buChar char="•"/>
              <a:defRPr sz="2800">
                <a:solidFill>
                  <a:srgbClr val="000058"/>
                </a:solidFill>
                <a:latin typeface="+mn-lt"/>
                <a:ea typeface="ＭＳ Ｐゴシック" charset="-128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 Narrow" pitchFamily="34" charset="0"/>
              <a:buChar char="−"/>
              <a:defRPr sz="2400">
                <a:solidFill>
                  <a:srgbClr val="000058"/>
                </a:solidFill>
                <a:latin typeface="+mn-lt"/>
                <a:ea typeface="ＭＳ Ｐゴシック" charset="-128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 Narrow" pitchFamily="34" charset="0"/>
              <a:buChar char="•"/>
              <a:defRPr sz="2000">
                <a:solidFill>
                  <a:srgbClr val="000058"/>
                </a:solidFill>
                <a:latin typeface="+mn-lt"/>
                <a:ea typeface="ＭＳ Ｐゴシック" charset="-128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Ø"/>
              <a:defRPr>
                <a:solidFill>
                  <a:srgbClr val="000058"/>
                </a:solidFill>
                <a:latin typeface="+mn-lt"/>
                <a:ea typeface="ＭＳ Ｐゴシック" charset="-128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58"/>
                </a:solidFill>
                <a:latin typeface="+mn-lt"/>
                <a:ea typeface="ＭＳ Ｐゴシック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58"/>
                </a:solidFill>
                <a:latin typeface="+mn-lt"/>
                <a:ea typeface="ＭＳ Ｐゴシック" charset="-128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58"/>
                </a:solidFill>
                <a:latin typeface="+mn-lt"/>
                <a:ea typeface="ＭＳ Ｐゴシック" charset="-128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58"/>
                </a:solidFill>
                <a:latin typeface="+mn-lt"/>
                <a:ea typeface="ＭＳ Ｐゴシック" charset="-128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58"/>
                </a:solidFill>
                <a:latin typeface="+mn-lt"/>
                <a:ea typeface="ＭＳ Ｐゴシック" charset="-128"/>
              </a:defRPr>
            </a:lvl9pPr>
          </a:lstStyle>
          <a:p>
            <a:r>
              <a:rPr lang="en-US" altLang="en-US" sz="2400" kern="0" dirty="0" err="1"/>
              <a:t>Burada</a:t>
            </a:r>
            <a:r>
              <a:rPr lang="en-US" altLang="en-US" sz="2400" kern="0" dirty="0"/>
              <a:t> dal </a:t>
            </a:r>
            <a:r>
              <a:rPr lang="en-US" altLang="en-US" sz="2400" kern="0" dirty="0" err="1"/>
              <a:t>akım</a:t>
            </a:r>
            <a:r>
              <a:rPr lang="en-US" altLang="en-US" sz="2400" kern="0" dirty="0"/>
              <a:t> </a:t>
            </a:r>
            <a:r>
              <a:rPr lang="en-US" altLang="en-US" sz="2400" kern="0" dirty="0" err="1"/>
              <a:t>denklemini</a:t>
            </a:r>
            <a:r>
              <a:rPr lang="en-US" altLang="en-US" sz="2400" kern="0" dirty="0"/>
              <a:t> </a:t>
            </a:r>
            <a:r>
              <a:rPr lang="en-US" altLang="en-US" sz="2400" kern="0" dirty="0" err="1"/>
              <a:t>yazdığımızda</a:t>
            </a:r>
            <a:r>
              <a:rPr lang="en-US" altLang="en-US" sz="2400" kern="0" dirty="0"/>
              <a:t> </a:t>
            </a:r>
            <a:r>
              <a:rPr lang="en-US" altLang="en-US" sz="2400" kern="0" dirty="0" err="1"/>
              <a:t>iki</a:t>
            </a:r>
            <a:r>
              <a:rPr lang="en-US" altLang="en-US" sz="2400" kern="0" dirty="0"/>
              <a:t> </a:t>
            </a:r>
            <a:r>
              <a:rPr lang="en-US" altLang="en-US" sz="2400" kern="0" dirty="0" err="1"/>
              <a:t>bilinmeyenli</a:t>
            </a:r>
            <a:r>
              <a:rPr lang="en-US" altLang="en-US" sz="2400" kern="0" dirty="0"/>
              <a:t> </a:t>
            </a:r>
            <a:r>
              <a:rPr lang="en-US" altLang="en-US" sz="2400" kern="0" dirty="0" err="1"/>
              <a:t>iki</a:t>
            </a:r>
            <a:r>
              <a:rPr lang="en-US" altLang="en-US" sz="2400" kern="0" dirty="0"/>
              <a:t> </a:t>
            </a:r>
            <a:r>
              <a:rPr lang="en-US" altLang="en-US" sz="2400" kern="0" dirty="0" err="1"/>
              <a:t>denklem</a:t>
            </a:r>
            <a:r>
              <a:rPr lang="en-US" altLang="en-US" sz="2400" kern="0" dirty="0"/>
              <a:t> </a:t>
            </a:r>
            <a:r>
              <a:rPr lang="en-US" altLang="en-US" sz="2400" kern="0" dirty="0" err="1"/>
              <a:t>elde</a:t>
            </a:r>
            <a:r>
              <a:rPr lang="en-US" altLang="en-US" sz="2400" kern="0" dirty="0"/>
              <a:t> </a:t>
            </a:r>
            <a:r>
              <a:rPr lang="en-US" altLang="en-US" sz="2400" kern="0" dirty="0" err="1"/>
              <a:t>ederiz</a:t>
            </a:r>
            <a:r>
              <a:rPr lang="en-US" altLang="en-US" sz="2400" kern="0" dirty="0"/>
              <a:t>.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322D09D1-1FFB-4184-A658-1E5AA45BD7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4145408"/>
            <a:ext cx="8229600" cy="4633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 Narrow" pitchFamily="34" charset="0"/>
              <a:buChar char="•"/>
              <a:defRPr sz="2800">
                <a:solidFill>
                  <a:srgbClr val="000058"/>
                </a:solidFill>
                <a:latin typeface="+mn-lt"/>
                <a:ea typeface="ＭＳ Ｐゴシック" charset="-128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 Narrow" pitchFamily="34" charset="0"/>
              <a:buChar char="−"/>
              <a:defRPr sz="2400">
                <a:solidFill>
                  <a:srgbClr val="000058"/>
                </a:solidFill>
                <a:latin typeface="+mn-lt"/>
                <a:ea typeface="ＭＳ Ｐゴシック" charset="-128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 Narrow" pitchFamily="34" charset="0"/>
              <a:buChar char="•"/>
              <a:defRPr sz="2000">
                <a:solidFill>
                  <a:srgbClr val="000058"/>
                </a:solidFill>
                <a:latin typeface="+mn-lt"/>
                <a:ea typeface="ＭＳ Ｐゴシック" charset="-128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Ø"/>
              <a:defRPr>
                <a:solidFill>
                  <a:srgbClr val="000058"/>
                </a:solidFill>
                <a:latin typeface="+mn-lt"/>
                <a:ea typeface="ＭＳ Ｐゴシック" charset="-128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58"/>
                </a:solidFill>
                <a:latin typeface="+mn-lt"/>
                <a:ea typeface="ＭＳ Ｐゴシック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58"/>
                </a:solidFill>
                <a:latin typeface="+mn-lt"/>
                <a:ea typeface="ＭＳ Ｐゴシック" charset="-128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58"/>
                </a:solidFill>
                <a:latin typeface="+mn-lt"/>
                <a:ea typeface="ＭＳ Ｐゴシック" charset="-128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58"/>
                </a:solidFill>
                <a:latin typeface="+mn-lt"/>
                <a:ea typeface="ＭＳ Ｐゴシック" charset="-128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58"/>
                </a:solidFill>
                <a:latin typeface="+mn-lt"/>
                <a:ea typeface="ＭＳ Ｐゴシック" charset="-128"/>
              </a:defRPr>
            </a:lvl9pPr>
          </a:lstStyle>
          <a:p>
            <a:r>
              <a:rPr lang="tr-TR" altLang="en-US" sz="2000" kern="0" dirty="0"/>
              <a:t>Denklemleri yok etme metoduyla çözerek gerilimleri bulabilirsiniz </a:t>
            </a:r>
            <a:r>
              <a:rPr lang="en-US" altLang="en-US" sz="2000" kern="0" dirty="0" err="1"/>
              <a:t>veya</a:t>
            </a:r>
            <a:r>
              <a:rPr lang="en-US" altLang="en-US" sz="2000" kern="0" dirty="0"/>
              <a:t> </a:t>
            </a:r>
            <a:r>
              <a:rPr lang="tr-TR" altLang="en-US" sz="2000" kern="0" dirty="0"/>
              <a:t>hesap makinesinde </a:t>
            </a:r>
            <a:r>
              <a:rPr lang="en-US" altLang="en-US" sz="2000" kern="0" dirty="0"/>
              <a:t>ÇÖZ </a:t>
            </a:r>
            <a:r>
              <a:rPr lang="en-US" altLang="en-US" sz="2000" kern="0" dirty="0" err="1"/>
              <a:t>fonksiyonunu</a:t>
            </a:r>
            <a:r>
              <a:rPr lang="en-US" altLang="en-US" sz="2000" kern="0" dirty="0"/>
              <a:t> </a:t>
            </a:r>
            <a:r>
              <a:rPr lang="en-US" altLang="en-US" sz="2000" kern="0" dirty="0" err="1"/>
              <a:t>kullanabilirsiniz</a:t>
            </a:r>
            <a:r>
              <a:rPr lang="en-US" altLang="en-US" sz="2000" kern="0" dirty="0"/>
              <a:t>:</a:t>
            </a:r>
          </a:p>
        </p:txBody>
      </p:sp>
      <p:graphicFrame>
        <p:nvGraphicFramePr>
          <p:cNvPr id="8" name="Object 11">
            <a:extLst>
              <a:ext uri="{FF2B5EF4-FFF2-40B4-BE49-F238E27FC236}">
                <a16:creationId xmlns:a16="http://schemas.microsoft.com/office/drawing/2014/main" id="{337E3931-B94A-4BC2-8BC0-D1F7CD4B414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88086354"/>
              </p:ext>
            </p:extLst>
          </p:nvPr>
        </p:nvGraphicFramePr>
        <p:xfrm>
          <a:off x="5397500" y="2481263"/>
          <a:ext cx="3937000" cy="1292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628720" imgH="863280" progId="Equation.DSMT4">
                  <p:embed/>
                </p:oleObj>
              </mc:Choice>
              <mc:Fallback>
                <p:oleObj name="Equation" r:id="rId3" imgW="2628720" imgH="863280" progId="Equation.DSMT4">
                  <p:embed/>
                  <p:pic>
                    <p:nvPicPr>
                      <p:cNvPr id="16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500" y="2481263"/>
                        <a:ext cx="3937000" cy="1292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11">
            <a:extLst>
              <a:ext uri="{FF2B5EF4-FFF2-40B4-BE49-F238E27FC236}">
                <a16:creationId xmlns:a16="http://schemas.microsoft.com/office/drawing/2014/main" id="{F11E334F-728F-4E9F-9EFB-A69DF8D645D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0214806"/>
              </p:ext>
            </p:extLst>
          </p:nvPr>
        </p:nvGraphicFramePr>
        <p:xfrm>
          <a:off x="4528456" y="5220945"/>
          <a:ext cx="2135187" cy="600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625400" imgH="457200" progId="Equation.DSMT4">
                  <p:embed/>
                </p:oleObj>
              </mc:Choice>
              <mc:Fallback>
                <p:oleObj name="Equation" r:id="rId5" imgW="1625400" imgH="457200" progId="Equation.DSMT4">
                  <p:embed/>
                  <p:pic>
                    <p:nvPicPr>
                      <p:cNvPr id="19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28456" y="5220945"/>
                        <a:ext cx="2135187" cy="600075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rgbClr val="FF0000"/>
                        </a:solidFill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5">
            <a:extLst>
              <a:ext uri="{FF2B5EF4-FFF2-40B4-BE49-F238E27FC236}">
                <a16:creationId xmlns:a16="http://schemas.microsoft.com/office/drawing/2014/main" id="{CE0CC7BC-5E49-4E6A-B521-A0E22B8E4E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44443" y="2062982"/>
            <a:ext cx="2438400" cy="4633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 Narrow" pitchFamily="34" charset="0"/>
              <a:buChar char="•"/>
              <a:defRPr sz="2800">
                <a:solidFill>
                  <a:srgbClr val="000058"/>
                </a:solidFill>
                <a:latin typeface="+mn-lt"/>
                <a:ea typeface="ＭＳ Ｐゴシック" charset="-128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 Narrow" pitchFamily="34" charset="0"/>
              <a:buChar char="−"/>
              <a:defRPr sz="2400">
                <a:solidFill>
                  <a:srgbClr val="000058"/>
                </a:solidFill>
                <a:latin typeface="+mn-lt"/>
                <a:ea typeface="ＭＳ Ｐゴシック" charset="-128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 Narrow" pitchFamily="34" charset="0"/>
              <a:buChar char="•"/>
              <a:defRPr sz="2000">
                <a:solidFill>
                  <a:srgbClr val="000058"/>
                </a:solidFill>
                <a:latin typeface="+mn-lt"/>
                <a:ea typeface="ＭＳ Ｐゴシック" charset="-128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Ø"/>
              <a:defRPr>
                <a:solidFill>
                  <a:srgbClr val="000058"/>
                </a:solidFill>
                <a:latin typeface="+mn-lt"/>
                <a:ea typeface="ＭＳ Ｐゴシック" charset="-128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58"/>
                </a:solidFill>
                <a:latin typeface="+mn-lt"/>
                <a:ea typeface="ＭＳ Ｐゴシック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58"/>
                </a:solidFill>
                <a:latin typeface="+mn-lt"/>
                <a:ea typeface="ＭＳ Ｐゴシック" charset="-128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58"/>
                </a:solidFill>
                <a:latin typeface="+mn-lt"/>
                <a:ea typeface="ＭＳ Ｐゴシック" charset="-128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58"/>
                </a:solidFill>
                <a:latin typeface="+mn-lt"/>
                <a:ea typeface="ＭＳ Ｐゴシック" charset="-128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58"/>
                </a:solidFill>
                <a:latin typeface="+mn-lt"/>
                <a:ea typeface="ＭＳ Ｐゴシック" charset="-128"/>
              </a:defRPr>
            </a:lvl9pPr>
          </a:lstStyle>
          <a:p>
            <a:pPr marL="0" indent="0">
              <a:buNone/>
            </a:pPr>
            <a:r>
              <a:rPr lang="tr-TR" altLang="en-US" sz="2000" kern="0" dirty="0">
                <a:solidFill>
                  <a:srgbClr val="FF0000"/>
                </a:solidFill>
              </a:rPr>
              <a:t>KAK Denklemleri</a:t>
            </a:r>
            <a:r>
              <a:rPr lang="en-US" altLang="en-US" sz="2000" kern="0" dirty="0">
                <a:solidFill>
                  <a:srgbClr val="FF0000"/>
                </a:solidFill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25081915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E1D767D-2A23-4845-AB92-4A196BE6D5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Örnek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D91F9D5-D3E1-485F-BD7F-8B821300482F}"/>
              </a:ext>
            </a:extLst>
          </p:cNvPr>
          <p:cNvSpPr txBox="1">
            <a:spLocks noChangeArrowheads="1"/>
          </p:cNvSpPr>
          <p:nvPr/>
        </p:nvSpPr>
        <p:spPr>
          <a:xfrm>
            <a:off x="838200" y="1817493"/>
            <a:ext cx="8153400" cy="762000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US" altLang="en-US" dirty="0"/>
              <a:t>I</a:t>
            </a:r>
            <a:r>
              <a:rPr lang="en-US" altLang="en-US" baseline="-25000" dirty="0"/>
              <a:t>UNK</a:t>
            </a:r>
            <a:r>
              <a:rPr lang="tr-TR" altLang="en-US" dirty="0"/>
              <a:t> bulunuz</a:t>
            </a:r>
            <a:r>
              <a:rPr lang="en-US" altLang="en-US" dirty="0"/>
              <a:t>. </a:t>
            </a:r>
          </a:p>
        </p:txBody>
      </p:sp>
      <p:pic>
        <p:nvPicPr>
          <p:cNvPr id="5" name="Picture 6">
            <a:extLst>
              <a:ext uri="{FF2B5EF4-FFF2-40B4-BE49-F238E27FC236}">
                <a16:creationId xmlns:a16="http://schemas.microsoft.com/office/drawing/2014/main" id="{2C9691FA-14B1-4CE2-81BE-78DB7BD08E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147" y="2548609"/>
            <a:ext cx="5334000" cy="17707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6" name="Object 11">
            <a:extLst>
              <a:ext uri="{FF2B5EF4-FFF2-40B4-BE49-F238E27FC236}">
                <a16:creationId xmlns:a16="http://schemas.microsoft.com/office/drawing/2014/main" id="{E4BFC727-2401-4DF7-9E71-F15B218A1DC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85406419"/>
              </p:ext>
            </p:extLst>
          </p:nvPr>
        </p:nvGraphicFramePr>
        <p:xfrm>
          <a:off x="6062663" y="2946400"/>
          <a:ext cx="3471862" cy="1117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679480" imgH="863280" progId="Equation.DSMT4">
                  <p:embed/>
                </p:oleObj>
              </mc:Choice>
              <mc:Fallback>
                <p:oleObj name="Equation" r:id="rId3" imgW="2679480" imgH="863280" progId="Equation.DSMT4">
                  <p:embed/>
                  <p:pic>
                    <p:nvPicPr>
                      <p:cNvPr id="1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62663" y="2946400"/>
                        <a:ext cx="3471862" cy="1117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5">
            <a:extLst>
              <a:ext uri="{FF2B5EF4-FFF2-40B4-BE49-F238E27FC236}">
                <a16:creationId xmlns:a16="http://schemas.microsoft.com/office/drawing/2014/main" id="{467418D8-A291-48A3-9218-A10A50203A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25660" y="2552928"/>
            <a:ext cx="2438400" cy="4633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 Narrow" pitchFamily="34" charset="0"/>
              <a:buChar char="•"/>
              <a:defRPr sz="2800">
                <a:solidFill>
                  <a:srgbClr val="000058"/>
                </a:solidFill>
                <a:latin typeface="+mn-lt"/>
                <a:ea typeface="ＭＳ Ｐゴシック" charset="-128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 Narrow" pitchFamily="34" charset="0"/>
              <a:buChar char="−"/>
              <a:defRPr sz="2400">
                <a:solidFill>
                  <a:srgbClr val="000058"/>
                </a:solidFill>
                <a:latin typeface="+mn-lt"/>
                <a:ea typeface="ＭＳ Ｐゴシック" charset="-128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 Narrow" pitchFamily="34" charset="0"/>
              <a:buChar char="•"/>
              <a:defRPr sz="2000">
                <a:solidFill>
                  <a:srgbClr val="000058"/>
                </a:solidFill>
                <a:latin typeface="+mn-lt"/>
                <a:ea typeface="ＭＳ Ｐゴシック" charset="-128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Ø"/>
              <a:defRPr>
                <a:solidFill>
                  <a:srgbClr val="000058"/>
                </a:solidFill>
                <a:latin typeface="+mn-lt"/>
                <a:ea typeface="ＭＳ Ｐゴシック" charset="-128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58"/>
                </a:solidFill>
                <a:latin typeface="+mn-lt"/>
                <a:ea typeface="ＭＳ Ｐゴシック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58"/>
                </a:solidFill>
                <a:latin typeface="+mn-lt"/>
                <a:ea typeface="ＭＳ Ｐゴシック" charset="-128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58"/>
                </a:solidFill>
                <a:latin typeface="+mn-lt"/>
                <a:ea typeface="ＭＳ Ｐゴシック" charset="-128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58"/>
                </a:solidFill>
                <a:latin typeface="+mn-lt"/>
                <a:ea typeface="ＭＳ Ｐゴシック" charset="-128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58"/>
                </a:solidFill>
                <a:latin typeface="+mn-lt"/>
                <a:ea typeface="ＭＳ Ｐゴシック" charset="-128"/>
              </a:defRPr>
            </a:lvl9pPr>
          </a:lstStyle>
          <a:p>
            <a:pPr marL="0" indent="0">
              <a:buNone/>
            </a:pPr>
            <a:r>
              <a:rPr lang="tr-TR" altLang="en-US" sz="2000" kern="0" dirty="0">
                <a:solidFill>
                  <a:srgbClr val="FF0000"/>
                </a:solidFill>
              </a:rPr>
              <a:t>KAK denklemleri</a:t>
            </a:r>
            <a:r>
              <a:rPr lang="en-US" altLang="en-US" sz="2000" kern="0" dirty="0">
                <a:solidFill>
                  <a:srgbClr val="FF0000"/>
                </a:solidFill>
              </a:rPr>
              <a:t>:</a:t>
            </a:r>
          </a:p>
        </p:txBody>
      </p:sp>
      <p:graphicFrame>
        <p:nvGraphicFramePr>
          <p:cNvPr id="8" name="Object 11">
            <a:extLst>
              <a:ext uri="{FF2B5EF4-FFF2-40B4-BE49-F238E27FC236}">
                <a16:creationId xmlns:a16="http://schemas.microsoft.com/office/drawing/2014/main" id="{1A871B57-F182-4724-97CF-E829AEFE148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61073949"/>
              </p:ext>
            </p:extLst>
          </p:nvPr>
        </p:nvGraphicFramePr>
        <p:xfrm>
          <a:off x="3603625" y="4449763"/>
          <a:ext cx="917575" cy="600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698400" imgH="457200" progId="Equation.DSMT4">
                  <p:embed/>
                </p:oleObj>
              </mc:Choice>
              <mc:Fallback>
                <p:oleObj name="Equation" r:id="rId5" imgW="698400" imgH="457200" progId="Equation.DSMT4">
                  <p:embed/>
                  <p:pic>
                    <p:nvPicPr>
                      <p:cNvPr id="9" name="Object 11">
                        <a:extLst>
                          <a:ext uri="{FF2B5EF4-FFF2-40B4-BE49-F238E27FC236}">
                            <a16:creationId xmlns:a16="http://schemas.microsoft.com/office/drawing/2014/main" id="{F11E334F-728F-4E9F-9EFB-A69DF8D645D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03625" y="4449763"/>
                        <a:ext cx="917575" cy="600075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rgbClr val="FF0000"/>
                        </a:solidFill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Nesne 8">
            <a:extLst>
              <a:ext uri="{FF2B5EF4-FFF2-40B4-BE49-F238E27FC236}">
                <a16:creationId xmlns:a16="http://schemas.microsoft.com/office/drawing/2014/main" id="{46EB47E1-503E-42FE-A25F-4F31BD995FF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10738875"/>
              </p:ext>
            </p:extLst>
          </p:nvPr>
        </p:nvGraphicFramePr>
        <p:xfrm>
          <a:off x="3312625" y="5348532"/>
          <a:ext cx="3362325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3362383" imgH="800083" progId="Equation.DSMT4">
                  <p:embed/>
                </p:oleObj>
              </mc:Choice>
              <mc:Fallback>
                <p:oleObj name="Equation" r:id="rId7" imgW="3362383" imgH="800083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312625" y="5348532"/>
                        <a:ext cx="3362325" cy="800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355143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6540231-BFD7-4C70-B01E-5517FC4FEE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Örnek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3D43CBD-D3E4-4B1E-965A-99DE367C6FFF}"/>
              </a:ext>
            </a:extLst>
          </p:cNvPr>
          <p:cNvSpPr txBox="1">
            <a:spLocks noChangeArrowheads="1"/>
          </p:cNvSpPr>
          <p:nvPr/>
        </p:nvSpPr>
        <p:spPr>
          <a:xfrm>
            <a:off x="993800" y="1432809"/>
            <a:ext cx="8153400" cy="515757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2400" dirty="0" err="1"/>
              <a:t>V</a:t>
            </a:r>
            <a:r>
              <a:rPr lang="en-US" altLang="en-US" sz="2400" baseline="-25000" dirty="0" err="1"/>
              <a:t>ab</a:t>
            </a:r>
            <a:r>
              <a:rPr lang="tr-TR" altLang="en-US" sz="2400" dirty="0"/>
              <a:t> bulunuz</a:t>
            </a:r>
            <a:r>
              <a:rPr lang="en-US" altLang="en-US" sz="2400" dirty="0"/>
              <a:t>. </a:t>
            </a:r>
          </a:p>
        </p:txBody>
      </p:sp>
      <p:pic>
        <p:nvPicPr>
          <p:cNvPr id="5" name="Picture 10">
            <a:extLst>
              <a:ext uri="{FF2B5EF4-FFF2-40B4-BE49-F238E27FC236}">
                <a16:creationId xmlns:a16="http://schemas.microsoft.com/office/drawing/2014/main" id="{9400D73A-41DA-4E01-A710-04522367E8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049" y="1948566"/>
            <a:ext cx="3505200" cy="2231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3">
            <a:extLst>
              <a:ext uri="{FF2B5EF4-FFF2-40B4-BE49-F238E27FC236}">
                <a16:creationId xmlns:a16="http://schemas.microsoft.com/office/drawing/2014/main" id="{635CB27B-00E5-45A6-B540-7A91554AFE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45037" y="5812160"/>
            <a:ext cx="2827339" cy="5157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 Narrow" pitchFamily="34" charset="0"/>
              <a:buChar char="•"/>
              <a:defRPr sz="2800">
                <a:solidFill>
                  <a:srgbClr val="000058"/>
                </a:solidFill>
                <a:latin typeface="+mn-lt"/>
                <a:ea typeface="ＭＳ Ｐゴシック" charset="-128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 Narrow" pitchFamily="34" charset="0"/>
              <a:buChar char="−"/>
              <a:defRPr sz="2400">
                <a:solidFill>
                  <a:srgbClr val="000058"/>
                </a:solidFill>
                <a:latin typeface="+mn-lt"/>
                <a:ea typeface="ＭＳ Ｐゴシック" charset="-128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 Narrow" pitchFamily="34" charset="0"/>
              <a:buChar char="•"/>
              <a:defRPr sz="2000">
                <a:solidFill>
                  <a:srgbClr val="000058"/>
                </a:solidFill>
                <a:latin typeface="+mn-lt"/>
                <a:ea typeface="ＭＳ Ｐゴシック" charset="-128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Ø"/>
              <a:defRPr>
                <a:solidFill>
                  <a:srgbClr val="000058"/>
                </a:solidFill>
                <a:latin typeface="+mn-lt"/>
                <a:ea typeface="ＭＳ Ｐゴシック" charset="-128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58"/>
                </a:solidFill>
                <a:latin typeface="+mn-lt"/>
                <a:ea typeface="ＭＳ Ｐゴシック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58"/>
                </a:solidFill>
                <a:latin typeface="+mn-lt"/>
                <a:ea typeface="ＭＳ Ｐゴシック" charset="-128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58"/>
                </a:solidFill>
                <a:latin typeface="+mn-lt"/>
                <a:ea typeface="ＭＳ Ｐゴシック" charset="-128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58"/>
                </a:solidFill>
                <a:latin typeface="+mn-lt"/>
                <a:ea typeface="ＭＳ Ｐゴシック" charset="-128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58"/>
                </a:solidFill>
                <a:latin typeface="+mn-lt"/>
                <a:ea typeface="ＭＳ Ｐゴシック" charset="-128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1800" i="1" kern="0" dirty="0" err="1">
                <a:solidFill>
                  <a:srgbClr val="FF0000"/>
                </a:solidFill>
              </a:rPr>
              <a:t>V</a:t>
            </a:r>
            <a:r>
              <a:rPr lang="en-US" altLang="en-US" sz="1800" i="1" kern="0" baseline="-25000" dirty="0" err="1">
                <a:solidFill>
                  <a:srgbClr val="FF0000"/>
                </a:solidFill>
              </a:rPr>
              <a:t>ab</a:t>
            </a:r>
            <a:r>
              <a:rPr lang="en-US" altLang="en-US" sz="1800" i="1" kern="0" dirty="0">
                <a:solidFill>
                  <a:srgbClr val="FF0000"/>
                </a:solidFill>
              </a:rPr>
              <a:t> = </a:t>
            </a:r>
            <a:r>
              <a:rPr lang="en-US" altLang="en-US" sz="1800" i="1" kern="0" dirty="0" err="1">
                <a:solidFill>
                  <a:srgbClr val="FF0000"/>
                </a:solidFill>
              </a:rPr>
              <a:t>V</a:t>
            </a:r>
            <a:r>
              <a:rPr lang="en-US" altLang="en-US" sz="1800" i="1" kern="0" baseline="-25000" dirty="0" err="1">
                <a:solidFill>
                  <a:srgbClr val="FF0000"/>
                </a:solidFill>
              </a:rPr>
              <a:t>a</a:t>
            </a:r>
            <a:r>
              <a:rPr lang="en-US" altLang="en-US" sz="1800" i="1" kern="0" dirty="0">
                <a:solidFill>
                  <a:srgbClr val="FF0000"/>
                </a:solidFill>
              </a:rPr>
              <a:t> – </a:t>
            </a:r>
            <a:r>
              <a:rPr lang="en-US" altLang="en-US" sz="1800" i="1" kern="0" dirty="0" err="1">
                <a:solidFill>
                  <a:srgbClr val="FF0000"/>
                </a:solidFill>
              </a:rPr>
              <a:t>V</a:t>
            </a:r>
            <a:r>
              <a:rPr lang="en-US" altLang="en-US" sz="1800" i="1" kern="0" baseline="-25000" dirty="0" err="1">
                <a:solidFill>
                  <a:srgbClr val="FF0000"/>
                </a:solidFill>
              </a:rPr>
              <a:t>b</a:t>
            </a:r>
            <a:r>
              <a:rPr lang="en-US" altLang="en-US" sz="1800" i="1" kern="0" dirty="0">
                <a:solidFill>
                  <a:srgbClr val="FF0000"/>
                </a:solidFill>
              </a:rPr>
              <a:t>: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72F908C5-84B2-4E9A-A6C1-9144CA7210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00142" y="1438434"/>
            <a:ext cx="3272234" cy="5157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 Narrow" pitchFamily="34" charset="0"/>
              <a:buChar char="•"/>
              <a:defRPr sz="2800">
                <a:solidFill>
                  <a:srgbClr val="000058"/>
                </a:solidFill>
                <a:latin typeface="+mn-lt"/>
                <a:ea typeface="ＭＳ Ｐゴシック" charset="-128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 Narrow" pitchFamily="34" charset="0"/>
              <a:buChar char="−"/>
              <a:defRPr sz="2400">
                <a:solidFill>
                  <a:srgbClr val="000058"/>
                </a:solidFill>
                <a:latin typeface="+mn-lt"/>
                <a:ea typeface="ＭＳ Ｐゴシック" charset="-128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 Narrow" pitchFamily="34" charset="0"/>
              <a:buChar char="•"/>
              <a:defRPr sz="2000">
                <a:solidFill>
                  <a:srgbClr val="000058"/>
                </a:solidFill>
                <a:latin typeface="+mn-lt"/>
                <a:ea typeface="ＭＳ Ｐゴシック" charset="-128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Ø"/>
              <a:defRPr>
                <a:solidFill>
                  <a:srgbClr val="000058"/>
                </a:solidFill>
                <a:latin typeface="+mn-lt"/>
                <a:ea typeface="ＭＳ Ｐゴシック" charset="-128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58"/>
                </a:solidFill>
                <a:latin typeface="+mn-lt"/>
                <a:ea typeface="ＭＳ Ｐゴシック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58"/>
                </a:solidFill>
                <a:latin typeface="+mn-lt"/>
                <a:ea typeface="ＭＳ Ｐゴシック" charset="-128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58"/>
                </a:solidFill>
                <a:latin typeface="+mn-lt"/>
                <a:ea typeface="ＭＳ Ｐゴシック" charset="-128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58"/>
                </a:solidFill>
                <a:latin typeface="+mn-lt"/>
                <a:ea typeface="ＭＳ Ｐゴシック" charset="-128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58"/>
                </a:solidFill>
                <a:latin typeface="+mn-lt"/>
                <a:ea typeface="ＭＳ Ｐゴシック" charset="-128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tr-TR" altLang="en-US" sz="1800" kern="0" dirty="0">
                <a:solidFill>
                  <a:srgbClr val="FF0000"/>
                </a:solidFill>
              </a:rPr>
              <a:t>Öncelikle </a:t>
            </a:r>
            <a:r>
              <a:rPr lang="en-US" altLang="en-US" sz="1800" i="1" kern="0" dirty="0" err="1">
                <a:solidFill>
                  <a:srgbClr val="FF0000"/>
                </a:solidFill>
              </a:rPr>
              <a:t>V</a:t>
            </a:r>
            <a:r>
              <a:rPr lang="en-US" altLang="en-US" sz="1800" i="1" kern="0" baseline="-25000" dirty="0" err="1">
                <a:solidFill>
                  <a:srgbClr val="FF0000"/>
                </a:solidFill>
              </a:rPr>
              <a:t>c</a:t>
            </a:r>
            <a:r>
              <a:rPr lang="tr-TR" altLang="en-US" sz="1800" kern="0" dirty="0">
                <a:solidFill>
                  <a:srgbClr val="FF0000"/>
                </a:solidFill>
              </a:rPr>
              <a:t> bulmamız gerekir</a:t>
            </a:r>
            <a:r>
              <a:rPr lang="en-US" altLang="en-US" sz="1800" kern="0" dirty="0">
                <a:solidFill>
                  <a:srgbClr val="FF0000"/>
                </a:solidFill>
              </a:rPr>
              <a:t>:</a:t>
            </a:r>
          </a:p>
        </p:txBody>
      </p:sp>
      <p:graphicFrame>
        <p:nvGraphicFramePr>
          <p:cNvPr id="8" name="Object 11">
            <a:extLst>
              <a:ext uri="{FF2B5EF4-FFF2-40B4-BE49-F238E27FC236}">
                <a16:creationId xmlns:a16="http://schemas.microsoft.com/office/drawing/2014/main" id="{F9BE3E67-55A1-496B-BBF4-D96189A9702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22455073"/>
              </p:ext>
            </p:extLst>
          </p:nvPr>
        </p:nvGraphicFramePr>
        <p:xfrm>
          <a:off x="4154512" y="2786947"/>
          <a:ext cx="2605088" cy="911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739880" imgH="609480" progId="Equation.DSMT4">
                  <p:embed/>
                </p:oleObj>
              </mc:Choice>
              <mc:Fallback>
                <p:oleObj name="Equation" r:id="rId3" imgW="1739880" imgH="609480" progId="Equation.DSMT4">
                  <p:embed/>
                  <p:pic>
                    <p:nvPicPr>
                      <p:cNvPr id="12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54512" y="2786947"/>
                        <a:ext cx="2605088" cy="911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12">
            <a:extLst>
              <a:ext uri="{FF2B5EF4-FFF2-40B4-BE49-F238E27FC236}">
                <a16:creationId xmlns:a16="http://schemas.microsoft.com/office/drawing/2014/main" id="{16CA19F4-1C33-428A-BB63-17D9FC3778D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23774721"/>
              </p:ext>
            </p:extLst>
          </p:nvPr>
        </p:nvGraphicFramePr>
        <p:xfrm>
          <a:off x="7989914" y="3969342"/>
          <a:ext cx="1160462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774360" imgH="228600" progId="Equation.DSMT4">
                  <p:embed/>
                </p:oleObj>
              </mc:Choice>
              <mc:Fallback>
                <p:oleObj name="Equation" r:id="rId5" imgW="774360" imgH="228600" progId="Equation.DSMT4">
                  <p:embed/>
                  <p:pic>
                    <p:nvPicPr>
                      <p:cNvPr id="13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89914" y="3969342"/>
                        <a:ext cx="1160462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3">
            <a:extLst>
              <a:ext uri="{FF2B5EF4-FFF2-40B4-BE49-F238E27FC236}">
                <a16:creationId xmlns:a16="http://schemas.microsoft.com/office/drawing/2014/main" id="{6C3AC7D9-8309-46F1-836C-CFFAE4B0E43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84818461"/>
              </p:ext>
            </p:extLst>
          </p:nvPr>
        </p:nvGraphicFramePr>
        <p:xfrm>
          <a:off x="4140225" y="3748158"/>
          <a:ext cx="3100388" cy="684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070000" imgH="457200" progId="Equation.DSMT4">
                  <p:embed/>
                </p:oleObj>
              </mc:Choice>
              <mc:Fallback>
                <p:oleObj name="Equation" r:id="rId7" imgW="2070000" imgH="457200" progId="Equation.DSMT4">
                  <p:embed/>
                  <p:pic>
                    <p:nvPicPr>
                      <p:cNvPr id="14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40225" y="3748158"/>
                        <a:ext cx="3100388" cy="684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6">
            <a:extLst>
              <a:ext uri="{FF2B5EF4-FFF2-40B4-BE49-F238E27FC236}">
                <a16:creationId xmlns:a16="http://schemas.microsoft.com/office/drawing/2014/main" id="{3611C3EF-17BB-430C-838A-1EA465A9810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24792372"/>
              </p:ext>
            </p:extLst>
          </p:nvPr>
        </p:nvGraphicFramePr>
        <p:xfrm>
          <a:off x="4144195" y="1848105"/>
          <a:ext cx="5395119" cy="8150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4203360" imgH="634680" progId="Equation.DSMT4">
                  <p:embed/>
                </p:oleObj>
              </mc:Choice>
              <mc:Fallback>
                <p:oleObj name="Equation" r:id="rId9" imgW="4203360" imgH="634680" progId="Equation.DSMT4">
                  <p:embed/>
                  <p:pic>
                    <p:nvPicPr>
                      <p:cNvPr id="15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44195" y="1848105"/>
                        <a:ext cx="5395119" cy="81505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ight Arrow 3">
            <a:extLst>
              <a:ext uri="{FF2B5EF4-FFF2-40B4-BE49-F238E27FC236}">
                <a16:creationId xmlns:a16="http://schemas.microsoft.com/office/drawing/2014/main" id="{28AE1916-1E40-45F7-8700-E7DBB58FFF77}"/>
              </a:ext>
            </a:extLst>
          </p:cNvPr>
          <p:cNvSpPr/>
          <p:nvPr/>
        </p:nvSpPr>
        <p:spPr>
          <a:xfrm>
            <a:off x="7372376" y="4009029"/>
            <a:ext cx="457200" cy="171450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3" name="Object 6">
            <a:extLst>
              <a:ext uri="{FF2B5EF4-FFF2-40B4-BE49-F238E27FC236}">
                <a16:creationId xmlns:a16="http://schemas.microsoft.com/office/drawing/2014/main" id="{B079C970-B713-40D8-8ED7-F426263A176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82724506"/>
              </p:ext>
            </p:extLst>
          </p:nvPr>
        </p:nvGraphicFramePr>
        <p:xfrm>
          <a:off x="811237" y="4585912"/>
          <a:ext cx="3554062" cy="18629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857320" imgH="1498320" progId="Equation.DSMT4">
                  <p:embed/>
                </p:oleObj>
              </mc:Choice>
              <mc:Fallback>
                <p:oleObj name="Equation" r:id="rId11" imgW="2857320" imgH="1498320" progId="Equation.DSMT4">
                  <p:embed/>
                  <p:pic>
                    <p:nvPicPr>
                      <p:cNvPr id="17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1237" y="4585912"/>
                        <a:ext cx="3554062" cy="186290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Rectangle 3">
            <a:extLst>
              <a:ext uri="{FF2B5EF4-FFF2-40B4-BE49-F238E27FC236}">
                <a16:creationId xmlns:a16="http://schemas.microsoft.com/office/drawing/2014/main" id="{FC2388D1-610E-4632-B9DB-612CA96A74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45237" y="4558711"/>
            <a:ext cx="2713037" cy="5157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 Narrow" pitchFamily="34" charset="0"/>
              <a:buChar char="•"/>
              <a:defRPr sz="2800">
                <a:solidFill>
                  <a:srgbClr val="000058"/>
                </a:solidFill>
                <a:latin typeface="+mn-lt"/>
                <a:ea typeface="ＭＳ Ｐゴシック" charset="-128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 Narrow" pitchFamily="34" charset="0"/>
              <a:buChar char="−"/>
              <a:defRPr sz="2400">
                <a:solidFill>
                  <a:srgbClr val="000058"/>
                </a:solidFill>
                <a:latin typeface="+mn-lt"/>
                <a:ea typeface="ＭＳ Ｐゴシック" charset="-128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 Narrow" pitchFamily="34" charset="0"/>
              <a:buChar char="•"/>
              <a:defRPr sz="2000">
                <a:solidFill>
                  <a:srgbClr val="000058"/>
                </a:solidFill>
                <a:latin typeface="+mn-lt"/>
                <a:ea typeface="ＭＳ Ｐゴシック" charset="-128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Ø"/>
              <a:defRPr>
                <a:solidFill>
                  <a:srgbClr val="000058"/>
                </a:solidFill>
                <a:latin typeface="+mn-lt"/>
                <a:ea typeface="ＭＳ Ｐゴシック" charset="-128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58"/>
                </a:solidFill>
                <a:latin typeface="+mn-lt"/>
                <a:ea typeface="ＭＳ Ｐゴシック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58"/>
                </a:solidFill>
                <a:latin typeface="+mn-lt"/>
                <a:ea typeface="ＭＳ Ｐゴシック" charset="-128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58"/>
                </a:solidFill>
                <a:latin typeface="+mn-lt"/>
                <a:ea typeface="ＭＳ Ｐゴシック" charset="-128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58"/>
                </a:solidFill>
                <a:latin typeface="+mn-lt"/>
                <a:ea typeface="ＭＳ Ｐゴシック" charset="-128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58"/>
                </a:solidFill>
                <a:latin typeface="+mn-lt"/>
                <a:ea typeface="ＭＳ Ｐゴシック" charset="-128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tr-TR" altLang="en-US" sz="1800" i="1" kern="0" dirty="0">
                <a:solidFill>
                  <a:srgbClr val="FF0000"/>
                </a:solidFill>
              </a:rPr>
              <a:t>Artık </a:t>
            </a:r>
            <a:r>
              <a:rPr lang="en-US" altLang="en-US" sz="1800" i="1" kern="0" dirty="0" err="1">
                <a:solidFill>
                  <a:srgbClr val="FF0000"/>
                </a:solidFill>
              </a:rPr>
              <a:t>V</a:t>
            </a:r>
            <a:r>
              <a:rPr lang="en-US" altLang="en-US" sz="1800" i="1" kern="0" baseline="-25000" dirty="0" err="1">
                <a:solidFill>
                  <a:srgbClr val="FF0000"/>
                </a:solidFill>
              </a:rPr>
              <a:t>a</a:t>
            </a:r>
            <a:r>
              <a:rPr lang="en-US" altLang="en-US" sz="1800" i="1" kern="0" dirty="0">
                <a:solidFill>
                  <a:srgbClr val="FF0000"/>
                </a:solidFill>
              </a:rPr>
              <a:t> </a:t>
            </a:r>
            <a:r>
              <a:rPr lang="tr-TR" altLang="en-US" sz="1800" kern="0" dirty="0">
                <a:solidFill>
                  <a:srgbClr val="FF0000"/>
                </a:solidFill>
              </a:rPr>
              <a:t>ve </a:t>
            </a:r>
            <a:r>
              <a:rPr lang="en-US" altLang="en-US" sz="1800" i="1" kern="0" dirty="0" err="1">
                <a:solidFill>
                  <a:srgbClr val="FF0000"/>
                </a:solidFill>
              </a:rPr>
              <a:t>V</a:t>
            </a:r>
            <a:r>
              <a:rPr lang="en-US" altLang="en-US" sz="1800" i="1" kern="0" baseline="-25000" dirty="0" err="1">
                <a:solidFill>
                  <a:srgbClr val="FF0000"/>
                </a:solidFill>
              </a:rPr>
              <a:t>b</a:t>
            </a:r>
            <a:r>
              <a:rPr lang="en-US" altLang="en-US" sz="1800" kern="0" dirty="0">
                <a:solidFill>
                  <a:srgbClr val="FF0000"/>
                </a:solidFill>
              </a:rPr>
              <a:t> </a:t>
            </a:r>
            <a:r>
              <a:rPr lang="tr-TR" altLang="en-US" sz="1800" kern="0" dirty="0">
                <a:solidFill>
                  <a:srgbClr val="FF0000"/>
                </a:solidFill>
              </a:rPr>
              <a:t>bulabiliriz</a:t>
            </a:r>
            <a:r>
              <a:rPr lang="en-US" altLang="en-US" sz="1800" kern="0" dirty="0">
                <a:solidFill>
                  <a:srgbClr val="FF0000"/>
                </a:solidFill>
              </a:rPr>
              <a:t>:</a:t>
            </a:r>
          </a:p>
        </p:txBody>
      </p:sp>
      <p:graphicFrame>
        <p:nvGraphicFramePr>
          <p:cNvPr id="15" name="Object 18">
            <a:extLst>
              <a:ext uri="{FF2B5EF4-FFF2-40B4-BE49-F238E27FC236}">
                <a16:creationId xmlns:a16="http://schemas.microsoft.com/office/drawing/2014/main" id="{61D3B67D-E4D5-442D-9047-F13A3265F59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00594718"/>
              </p:ext>
            </p:extLst>
          </p:nvPr>
        </p:nvGraphicFramePr>
        <p:xfrm>
          <a:off x="4599016" y="5006527"/>
          <a:ext cx="4765677" cy="32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3377880" imgH="228600" progId="Equation.DSMT4">
                  <p:embed/>
                </p:oleObj>
              </mc:Choice>
              <mc:Fallback>
                <p:oleObj name="Equation" r:id="rId13" imgW="3377880" imgH="228600" progId="Equation.DSMT4">
                  <p:embed/>
                  <p:pic>
                    <p:nvPicPr>
                      <p:cNvPr id="19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99016" y="5006527"/>
                        <a:ext cx="4765677" cy="32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9">
            <a:extLst>
              <a:ext uri="{FF2B5EF4-FFF2-40B4-BE49-F238E27FC236}">
                <a16:creationId xmlns:a16="http://schemas.microsoft.com/office/drawing/2014/main" id="{597BFD17-D126-4073-B9CD-CB668ECFD53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55047275"/>
              </p:ext>
            </p:extLst>
          </p:nvPr>
        </p:nvGraphicFramePr>
        <p:xfrm>
          <a:off x="4599016" y="5365212"/>
          <a:ext cx="4981575" cy="322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3530520" imgH="228600" progId="Equation.DSMT4">
                  <p:embed/>
                </p:oleObj>
              </mc:Choice>
              <mc:Fallback>
                <p:oleObj name="Equation" r:id="rId15" imgW="3530520" imgH="228600" progId="Equation.DSMT4">
                  <p:embed/>
                  <p:pic>
                    <p:nvPicPr>
                      <p:cNvPr id="2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99016" y="5365212"/>
                        <a:ext cx="4981575" cy="322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20">
            <a:extLst>
              <a:ext uri="{FF2B5EF4-FFF2-40B4-BE49-F238E27FC236}">
                <a16:creationId xmlns:a16="http://schemas.microsoft.com/office/drawing/2014/main" id="{2CCFFB40-2686-4084-B638-DA96DAAC34D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38312457"/>
              </p:ext>
            </p:extLst>
          </p:nvPr>
        </p:nvGraphicFramePr>
        <p:xfrm>
          <a:off x="4599016" y="6287685"/>
          <a:ext cx="3619500" cy="322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2565360" imgH="228600" progId="Equation.DSMT4">
                  <p:embed/>
                </p:oleObj>
              </mc:Choice>
              <mc:Fallback>
                <p:oleObj name="Equation" r:id="rId17" imgW="2565360" imgH="228600" progId="Equation.DSMT4">
                  <p:embed/>
                  <p:pic>
                    <p:nvPicPr>
                      <p:cNvPr id="21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99016" y="6287685"/>
                        <a:ext cx="3619500" cy="322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Rectangle 4">
            <a:extLst>
              <a:ext uri="{FF2B5EF4-FFF2-40B4-BE49-F238E27FC236}">
                <a16:creationId xmlns:a16="http://schemas.microsoft.com/office/drawing/2014/main" id="{0C5E7C1F-1776-44E4-B222-5BFF7CDD48E4}"/>
              </a:ext>
            </a:extLst>
          </p:cNvPr>
          <p:cNvSpPr/>
          <p:nvPr/>
        </p:nvSpPr>
        <p:spPr>
          <a:xfrm>
            <a:off x="7552114" y="6226337"/>
            <a:ext cx="650523" cy="42926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77060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12" grpId="0" animBg="1"/>
      <p:bldP spid="14" grpId="0"/>
      <p:bldP spid="18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C86D13D-D2A9-4673-ADFE-C99F1AEEC2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ct val="50000"/>
              </a:spcBef>
            </a:pPr>
            <a:r>
              <a:rPr lang="tr-TR" dirty="0">
                <a:latin typeface="Times New Roman" charset="0"/>
                <a:cs typeface="Times New Roman" charset="0"/>
              </a:rPr>
              <a:t>Çevre Akımları Yöntemi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1ACD3D53-8B62-4651-837E-00CCCAA06E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Bu yöntemde düğümlerdeki akımlar yerine, çevredeki akımlar ele alınarak devrenin analizi yapılır. </a:t>
            </a:r>
          </a:p>
          <a:p>
            <a:r>
              <a:rPr lang="tr-TR" dirty="0"/>
              <a:t>Yöntemin temel prensibi; her bir bağımsız çevrede KGK uygulanır.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64120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89F2576-DFE8-44B4-98BD-896DF865B6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>
                <a:latin typeface="Times New Roman" charset="0"/>
                <a:cs typeface="Times New Roman" charset="0"/>
              </a:rPr>
              <a:t>Çevre Akımları Yöntemi</a:t>
            </a:r>
            <a:endParaRPr lang="en-US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E4B0A3E2-62DD-44FD-B6FC-3B5E8EABB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609600" indent="-609600"/>
            <a:r>
              <a:rPr lang="tr-TR" dirty="0"/>
              <a:t>Çevre akımları yöntemi aşağıda verilen üç adım ile uygulanır</a:t>
            </a:r>
            <a:r>
              <a:rPr lang="en-US" altLang="zh-TW" dirty="0"/>
              <a:t>:</a:t>
            </a:r>
          </a:p>
          <a:p>
            <a:pPr marL="990600" lvl="1" indent="-533400">
              <a:buFontTx/>
              <a:buAutoNum type="arabicPeriod"/>
            </a:pPr>
            <a:r>
              <a:rPr lang="tr-TR" dirty="0"/>
              <a:t>Her bir bağımsız çevre için bir çevre akımı yönü alınır. Bu akımların yönü keyfidir. (her ne kadar keyfi denilse de genel tercih saat yönüdür) </a:t>
            </a:r>
          </a:p>
          <a:p>
            <a:pPr marL="990600" lvl="1" indent="-533400">
              <a:buFontTx/>
              <a:buAutoNum type="arabicPeriod"/>
            </a:pPr>
            <a:r>
              <a:rPr lang="tr-TR" dirty="0"/>
              <a:t>Her çevreye KGK uygulanır. Gerilimler, çevre akımları cinsinden tanımlanır. </a:t>
            </a:r>
          </a:p>
          <a:p>
            <a:pPr marL="990600" lvl="1" indent="-533400">
              <a:buFontTx/>
              <a:buAutoNum type="arabicPeriod"/>
            </a:pPr>
            <a:r>
              <a:rPr lang="tr-TR" dirty="0"/>
              <a:t>Bağımsız çevre sayısı kadar elde edilen denklemler düzenlenir.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12297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89F2576-DFE8-44B4-98BD-896DF865B6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>
                <a:latin typeface="Times New Roman" charset="0"/>
                <a:cs typeface="Times New Roman" charset="0"/>
              </a:rPr>
              <a:t>Çevre Akımları Yöntemi</a:t>
            </a:r>
            <a:endParaRPr lang="en-US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E4B0A3E2-62DD-44FD-B6FC-3B5E8EABB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609600" indent="-609600"/>
            <a:r>
              <a:rPr lang="tr-TR" altLang="zh-TW" dirty="0"/>
              <a:t>Devredeki çevreler belirlenir.</a:t>
            </a:r>
            <a:endParaRPr lang="en-US" dirty="0"/>
          </a:p>
        </p:txBody>
      </p:sp>
      <p:sp>
        <p:nvSpPr>
          <p:cNvPr id="4" name="Rectangle 3" descr="aLe77183_03017">
            <a:extLst>
              <a:ext uri="{FF2B5EF4-FFF2-40B4-BE49-F238E27FC236}">
                <a16:creationId xmlns:a16="http://schemas.microsoft.com/office/drawing/2014/main" id="{069F0B2F-B5A4-4397-B80B-DBA85D89F983}"/>
              </a:ext>
            </a:extLst>
          </p:cNvPr>
          <p:cNvSpPr>
            <a:spLocks noGrp="1" noChangeAspect="1" noChangeArrowheads="1"/>
          </p:cNvSpPr>
          <p:nvPr isPhoto="1"/>
        </p:nvSpPr>
        <p:spPr bwMode="auto">
          <a:xfrm>
            <a:off x="2515211" y="2374900"/>
            <a:ext cx="7405687" cy="3802063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  <a:effectLst/>
          <a:extLst>
            <a:ext uri="{91240B29-F687-4F45-9708-019B960494DF}">
              <a14:hiddenLine xmlns:a14="http://schemas.microsoft.com/office/drawing/2010/main" w="762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254721" dir="13500000" algn="ctr" rotWithShape="0">
                    <a:srgbClr val="808080">
                      <a:alpha val="50000"/>
                    </a:srgbClr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endParaRPr lang="tr-TR" altLang="en-US"/>
          </a:p>
        </p:txBody>
      </p:sp>
    </p:spTree>
    <p:extLst>
      <p:ext uri="{BB962C8B-B14F-4D97-AF65-F5344CB8AC3E}">
        <p14:creationId xmlns:p14="http://schemas.microsoft.com/office/powerpoint/2010/main" val="36065003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FBFA504-5610-4D3D-9769-593FE14F6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altLang="zh-TW"/>
              <a:t>Çevrelere KGK Uygulanır</a:t>
            </a:r>
            <a:endParaRPr lang="en-US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10804FC4-6BB6-4F15-B06B-A0D9DA774B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1. çevre için;</a:t>
            </a:r>
          </a:p>
          <a:p>
            <a:endParaRPr lang="tr-TR" dirty="0"/>
          </a:p>
          <a:p>
            <a:endParaRPr lang="tr-TR" dirty="0"/>
          </a:p>
          <a:p>
            <a:endParaRPr lang="tr-TR" dirty="0"/>
          </a:p>
          <a:p>
            <a:endParaRPr lang="tr-TR" dirty="0"/>
          </a:p>
          <a:p>
            <a:r>
              <a:rPr lang="tr-TR" dirty="0"/>
              <a:t>2. çevre için;</a:t>
            </a:r>
          </a:p>
        </p:txBody>
      </p:sp>
      <p:graphicFrame>
        <p:nvGraphicFramePr>
          <p:cNvPr id="4" name="Object 5">
            <a:extLst>
              <a:ext uri="{FF2B5EF4-FFF2-40B4-BE49-F238E27FC236}">
                <a16:creationId xmlns:a16="http://schemas.microsoft.com/office/drawing/2014/main" id="{1CC372B1-C26F-4886-9FD1-58B5BFE142A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68917328"/>
              </p:ext>
            </p:extLst>
          </p:nvPr>
        </p:nvGraphicFramePr>
        <p:xfrm>
          <a:off x="866775" y="2610656"/>
          <a:ext cx="4089400" cy="1092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2" imgW="4089400" imgH="1092200" progId="Equation.3">
                  <p:embed/>
                </p:oleObj>
              </mc:Choice>
              <mc:Fallback>
                <p:oleObj name="方程式" r:id="rId2" imgW="4089400" imgH="1092200" progId="Equation.3">
                  <p:embed/>
                  <p:pic>
                    <p:nvPicPr>
                      <p:cNvPr id="37895" name="Object 5">
                        <a:extLst>
                          <a:ext uri="{FF2B5EF4-FFF2-40B4-BE49-F238E27FC236}">
                            <a16:creationId xmlns:a16="http://schemas.microsoft.com/office/drawing/2014/main" id="{CC06C860-7C0C-4EC8-9640-3EBD398EC60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6775" y="2610656"/>
                        <a:ext cx="4089400" cy="1092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8">
            <a:extLst>
              <a:ext uri="{FF2B5EF4-FFF2-40B4-BE49-F238E27FC236}">
                <a16:creationId xmlns:a16="http://schemas.microsoft.com/office/drawing/2014/main" id="{D6D43FEA-7735-4C27-AA2C-21D2B3FE364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8384292"/>
              </p:ext>
            </p:extLst>
          </p:nvPr>
        </p:nvGraphicFramePr>
        <p:xfrm>
          <a:off x="911225" y="4944086"/>
          <a:ext cx="4000500" cy="1092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4" imgW="4000500" imgH="1092200" progId="Equation.3">
                  <p:embed/>
                </p:oleObj>
              </mc:Choice>
              <mc:Fallback>
                <p:oleObj name="方程式" r:id="rId4" imgW="4000500" imgH="1092200" progId="Equation.3">
                  <p:embed/>
                  <p:pic>
                    <p:nvPicPr>
                      <p:cNvPr id="182280" name="Object 8">
                        <a:extLst>
                          <a:ext uri="{FF2B5EF4-FFF2-40B4-BE49-F238E27FC236}">
                            <a16:creationId xmlns:a16="http://schemas.microsoft.com/office/drawing/2014/main" id="{577E5549-5FC1-4FC8-8C85-DD04954D51C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1225" y="4944086"/>
                        <a:ext cx="4000500" cy="1092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3" descr="aLe77183_03017">
            <a:extLst>
              <a:ext uri="{FF2B5EF4-FFF2-40B4-BE49-F238E27FC236}">
                <a16:creationId xmlns:a16="http://schemas.microsoft.com/office/drawing/2014/main" id="{F22FAA8A-F6CA-4F43-85C0-DE1CCB46CCE5}"/>
              </a:ext>
            </a:extLst>
          </p:cNvPr>
          <p:cNvSpPr>
            <a:spLocks noGrp="1" noChangeAspect="1" noChangeArrowheads="1"/>
          </p:cNvSpPr>
          <p:nvPr isPhoto="1"/>
        </p:nvSpPr>
        <p:spPr bwMode="auto">
          <a:xfrm>
            <a:off x="5722864" y="1825625"/>
            <a:ext cx="5630936" cy="2890910"/>
          </a:xfrm>
          <a:prstGeom prst="rect">
            <a:avLst/>
          </a:prstGeom>
          <a:blipFill dpi="0" rotWithShape="1">
            <a:blip r:embed="rId6"/>
            <a:srcRect/>
            <a:stretch>
              <a:fillRect/>
            </a:stretch>
          </a:blipFill>
          <a:ln>
            <a:noFill/>
          </a:ln>
          <a:effectLst/>
          <a:extLst>
            <a:ext uri="{91240B29-F687-4F45-9708-019B960494DF}">
              <a14:hiddenLine xmlns:a14="http://schemas.microsoft.com/office/drawing/2010/main" w="762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254721" dir="13500000" algn="ctr" rotWithShape="0">
                    <a:srgbClr val="808080">
                      <a:alpha val="50000"/>
                    </a:srgbClr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endParaRPr lang="tr-TR" altLang="en-US"/>
          </a:p>
        </p:txBody>
      </p:sp>
    </p:spTree>
    <p:extLst>
      <p:ext uri="{BB962C8B-B14F-4D97-AF65-F5344CB8AC3E}">
        <p14:creationId xmlns:p14="http://schemas.microsoft.com/office/powerpoint/2010/main" val="2176993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86D7A21-EC62-45DF-A707-0B8B35077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altLang="zh-TW" dirty="0"/>
              <a:t>Eşitlik Çözülür</a:t>
            </a:r>
            <a:endParaRPr lang="en-US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EC2DBC0C-DDF6-4457-BBC0-D984D35293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Matris formunda yazılırsa</a:t>
            </a:r>
          </a:p>
          <a:p>
            <a:endParaRPr lang="en-US" dirty="0"/>
          </a:p>
        </p:txBody>
      </p:sp>
      <p:graphicFrame>
        <p:nvGraphicFramePr>
          <p:cNvPr id="4" name="Object 4">
            <a:extLst>
              <a:ext uri="{FF2B5EF4-FFF2-40B4-BE49-F238E27FC236}">
                <a16:creationId xmlns:a16="http://schemas.microsoft.com/office/drawing/2014/main" id="{F7412AF4-D5D3-4B54-A087-69E8DFC13F9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80223176"/>
              </p:ext>
            </p:extLst>
          </p:nvPr>
        </p:nvGraphicFramePr>
        <p:xfrm>
          <a:off x="905585" y="2438400"/>
          <a:ext cx="5130800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2" imgW="5130800" imgH="990600" progId="Equation.3">
                  <p:embed/>
                </p:oleObj>
              </mc:Choice>
              <mc:Fallback>
                <p:oleObj name="方程式" r:id="rId2" imgW="5130800" imgH="990600" progId="Equation.3">
                  <p:embed/>
                  <p:pic>
                    <p:nvPicPr>
                      <p:cNvPr id="38919" name="Object 4">
                        <a:extLst>
                          <a:ext uri="{FF2B5EF4-FFF2-40B4-BE49-F238E27FC236}">
                            <a16:creationId xmlns:a16="http://schemas.microsoft.com/office/drawing/2014/main" id="{9A515FEC-87BC-411D-B1F9-FD6B1604D19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5585" y="2438400"/>
                        <a:ext cx="5130800" cy="99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5">
            <a:extLst>
              <a:ext uri="{FF2B5EF4-FFF2-40B4-BE49-F238E27FC236}">
                <a16:creationId xmlns:a16="http://schemas.microsoft.com/office/drawing/2014/main" id="{62873B85-E5A9-407F-9B46-88D87EC1FC6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64398620"/>
              </p:ext>
            </p:extLst>
          </p:nvPr>
        </p:nvGraphicFramePr>
        <p:xfrm>
          <a:off x="905585" y="4320381"/>
          <a:ext cx="45466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4" imgW="4546600" imgH="482600" progId="Equation.3">
                  <p:embed/>
                </p:oleObj>
              </mc:Choice>
              <mc:Fallback>
                <p:oleObj name="方程式" r:id="rId4" imgW="4546600" imgH="482600" progId="Equation.3">
                  <p:embed/>
                  <p:pic>
                    <p:nvPicPr>
                      <p:cNvPr id="38920" name="Object 5">
                        <a:extLst>
                          <a:ext uri="{FF2B5EF4-FFF2-40B4-BE49-F238E27FC236}">
                            <a16:creationId xmlns:a16="http://schemas.microsoft.com/office/drawing/2014/main" id="{FBF49908-BA9B-49EE-AF47-B3754E1C418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5585" y="4320381"/>
                        <a:ext cx="4546600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3" descr="aLe77183_03017">
            <a:extLst>
              <a:ext uri="{FF2B5EF4-FFF2-40B4-BE49-F238E27FC236}">
                <a16:creationId xmlns:a16="http://schemas.microsoft.com/office/drawing/2014/main" id="{3500E807-D97C-43C8-B62C-674D40A60828}"/>
              </a:ext>
            </a:extLst>
          </p:cNvPr>
          <p:cNvSpPr>
            <a:spLocks noGrp="1" noChangeAspect="1" noChangeArrowheads="1"/>
          </p:cNvSpPr>
          <p:nvPr isPhoto="1"/>
        </p:nvSpPr>
        <p:spPr bwMode="auto">
          <a:xfrm>
            <a:off x="6384046" y="2151222"/>
            <a:ext cx="5630936" cy="2890910"/>
          </a:xfrm>
          <a:prstGeom prst="rect">
            <a:avLst/>
          </a:prstGeom>
          <a:blipFill dpi="0" rotWithShape="1">
            <a:blip r:embed="rId6"/>
            <a:srcRect/>
            <a:stretch>
              <a:fillRect/>
            </a:stretch>
          </a:blipFill>
          <a:ln>
            <a:noFill/>
          </a:ln>
          <a:effectLst/>
          <a:extLst>
            <a:ext uri="{91240B29-F687-4F45-9708-019B960494DF}">
              <a14:hiddenLine xmlns:a14="http://schemas.microsoft.com/office/drawing/2010/main" w="762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254721" dir="13500000" algn="ctr" rotWithShape="0">
                    <a:srgbClr val="808080">
                      <a:alpha val="50000"/>
                    </a:srgbClr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endParaRPr lang="tr-TR" altLang="en-US"/>
          </a:p>
        </p:txBody>
      </p:sp>
    </p:spTree>
    <p:extLst>
      <p:ext uri="{BB962C8B-B14F-4D97-AF65-F5344CB8AC3E}">
        <p14:creationId xmlns:p14="http://schemas.microsoft.com/office/powerpoint/2010/main" val="16042916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3FEB1CA-A1A8-48BB-B815-5C58A6C242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Örnek</a:t>
            </a:r>
            <a:endParaRPr lang="en-US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BB212D76-1E76-4394-93B7-42914505C0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909261" cy="4351338"/>
          </a:xfrm>
        </p:spPr>
        <p:txBody>
          <a:bodyPr/>
          <a:lstStyle/>
          <a:p>
            <a:r>
              <a:rPr lang="en-US" altLang="zh-TW" i="1" dirty="0"/>
              <a:t>I</a:t>
            </a:r>
            <a:r>
              <a:rPr lang="en-US" altLang="zh-TW" baseline="-25000" dirty="0"/>
              <a:t>1</a:t>
            </a:r>
            <a:r>
              <a:rPr lang="en-US" altLang="zh-TW" dirty="0"/>
              <a:t>, </a:t>
            </a:r>
            <a:r>
              <a:rPr lang="en-US" altLang="zh-TW" i="1" dirty="0"/>
              <a:t>I</a:t>
            </a:r>
            <a:r>
              <a:rPr lang="en-US" altLang="zh-TW" baseline="-25000" dirty="0"/>
              <a:t>2</a:t>
            </a:r>
            <a:r>
              <a:rPr lang="en-US" altLang="zh-TW" dirty="0"/>
              <a:t> </a:t>
            </a:r>
            <a:r>
              <a:rPr lang="tr-TR" altLang="zh-TW" dirty="0"/>
              <a:t>ve</a:t>
            </a:r>
            <a:r>
              <a:rPr lang="en-US" altLang="zh-TW" dirty="0"/>
              <a:t> </a:t>
            </a:r>
            <a:r>
              <a:rPr lang="en-US" altLang="zh-TW" i="1" dirty="0"/>
              <a:t>I</a:t>
            </a:r>
            <a:r>
              <a:rPr lang="en-US" altLang="zh-TW" baseline="-25000" dirty="0"/>
              <a:t>3</a:t>
            </a:r>
            <a:r>
              <a:rPr lang="en-US" altLang="zh-TW" dirty="0"/>
              <a:t> </a:t>
            </a:r>
            <a:r>
              <a:rPr lang="tr-TR" altLang="zh-TW" dirty="0"/>
              <a:t>akımlarını çevre akımları yöntemi kullanarak bulunuz</a:t>
            </a:r>
            <a:r>
              <a:rPr lang="en-US" altLang="zh-TW" dirty="0"/>
              <a:t>.</a:t>
            </a:r>
            <a:endParaRPr lang="tr-TR" altLang="zh-TW" dirty="0"/>
          </a:p>
          <a:p>
            <a:endParaRPr lang="en-US" altLang="zh-TW" dirty="0"/>
          </a:p>
          <a:p>
            <a:endParaRPr lang="tr-TR" dirty="0"/>
          </a:p>
          <a:p>
            <a:endParaRPr lang="en-US" dirty="0"/>
          </a:p>
        </p:txBody>
      </p:sp>
      <p:sp>
        <p:nvSpPr>
          <p:cNvPr id="4" name="Rectangle 3" descr="aLe77183_03018">
            <a:extLst>
              <a:ext uri="{FF2B5EF4-FFF2-40B4-BE49-F238E27FC236}">
                <a16:creationId xmlns:a16="http://schemas.microsoft.com/office/drawing/2014/main" id="{07298416-9F2D-4D8A-9297-131E37A96819}"/>
              </a:ext>
            </a:extLst>
          </p:cNvPr>
          <p:cNvSpPr>
            <a:spLocks noGrp="1" noChangeAspect="1" noChangeArrowheads="1"/>
          </p:cNvSpPr>
          <p:nvPr isPhoto="1"/>
        </p:nvSpPr>
        <p:spPr bwMode="auto">
          <a:xfrm>
            <a:off x="6747461" y="1690688"/>
            <a:ext cx="5103813" cy="3803650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  <a:effectLst/>
          <a:extLst>
            <a:ext uri="{91240B29-F687-4F45-9708-019B960494DF}">
              <a14:hiddenLine xmlns:a14="http://schemas.microsoft.com/office/drawing/2010/main" w="762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201996" dir="13500000" algn="ctr" rotWithShape="0">
                    <a:srgbClr val="808080">
                      <a:alpha val="50000"/>
                    </a:srgbClr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endParaRPr lang="tr-TR" altLang="en-US"/>
          </a:p>
        </p:txBody>
      </p:sp>
    </p:spTree>
    <p:extLst>
      <p:ext uri="{BB962C8B-B14F-4D97-AF65-F5344CB8AC3E}">
        <p14:creationId xmlns:p14="http://schemas.microsoft.com/office/powerpoint/2010/main" val="219833385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B21AD63-5B30-4BC4-A847-CE0DFA0EE1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Çözüm</a:t>
            </a:r>
            <a:endParaRPr lang="en-US" dirty="0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20F75DA6-90CF-4559-9B57-B3EAEC2F5F9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946275"/>
            <a:ext cx="7757160" cy="4911725"/>
          </a:xfrm>
        </p:spPr>
        <p:txBody>
          <a:bodyPr>
            <a:normAutofit lnSpcReduction="10000"/>
          </a:bodyPr>
          <a:lstStyle/>
          <a:p>
            <a:r>
              <a:rPr lang="tr-TR" dirty="0"/>
              <a:t>1. çevre için;</a:t>
            </a:r>
          </a:p>
          <a:p>
            <a:endParaRPr lang="en-US" altLang="zh-TW" dirty="0">
              <a:ea typeface="新細明體" panose="02020500000000000000" pitchFamily="18" charset="-120"/>
            </a:endParaRPr>
          </a:p>
          <a:p>
            <a:endParaRPr lang="en-US" altLang="zh-TW" dirty="0">
              <a:ea typeface="新細明體" panose="02020500000000000000" pitchFamily="18" charset="-120"/>
            </a:endParaRPr>
          </a:p>
          <a:p>
            <a:endParaRPr lang="tr-TR" altLang="zh-TW" dirty="0">
              <a:ea typeface="新細明體" panose="02020500000000000000" pitchFamily="18" charset="-120"/>
            </a:endParaRPr>
          </a:p>
          <a:p>
            <a:pPr marL="0" indent="0">
              <a:buNone/>
            </a:pPr>
            <a:endParaRPr lang="tr-TR" altLang="zh-TW" dirty="0">
              <a:ea typeface="新細明體" panose="02020500000000000000" pitchFamily="18" charset="-120"/>
            </a:endParaRPr>
          </a:p>
          <a:p>
            <a:r>
              <a:rPr lang="tr-TR" dirty="0"/>
              <a:t>2. çevre için;</a:t>
            </a:r>
          </a:p>
          <a:p>
            <a:endParaRPr lang="en-US" altLang="zh-TW" dirty="0">
              <a:ea typeface="新細明體" panose="02020500000000000000" pitchFamily="18" charset="-120"/>
            </a:endParaRPr>
          </a:p>
          <a:p>
            <a:endParaRPr lang="en-US" altLang="zh-TW" dirty="0">
              <a:ea typeface="新細明體" panose="02020500000000000000" pitchFamily="18" charset="-120"/>
            </a:endParaRPr>
          </a:p>
          <a:p>
            <a:r>
              <a:rPr lang="en-US" altLang="zh-TW" i="1" dirty="0">
                <a:ea typeface="新細明體" panose="02020500000000000000" pitchFamily="18" charset="-120"/>
              </a:rPr>
              <a:t>i</a:t>
            </a:r>
            <a:r>
              <a:rPr lang="en-US" altLang="zh-TW" baseline="-25000" dirty="0">
                <a:ea typeface="新細明體" panose="02020500000000000000" pitchFamily="18" charset="-120"/>
              </a:rPr>
              <a:t>1</a:t>
            </a:r>
            <a:r>
              <a:rPr lang="en-US" altLang="zh-TW" dirty="0">
                <a:ea typeface="新細明體" panose="02020500000000000000" pitchFamily="18" charset="-120"/>
              </a:rPr>
              <a:t> </a:t>
            </a:r>
            <a:r>
              <a:rPr lang="tr-TR" altLang="zh-TW" dirty="0">
                <a:ea typeface="新細明體" panose="02020500000000000000" pitchFamily="18" charset="-120"/>
              </a:rPr>
              <a:t>ve</a:t>
            </a:r>
            <a:r>
              <a:rPr lang="en-US" altLang="zh-TW" i="1" dirty="0">
                <a:ea typeface="新細明體" panose="02020500000000000000" pitchFamily="18" charset="-120"/>
              </a:rPr>
              <a:t> i</a:t>
            </a:r>
            <a:r>
              <a:rPr lang="en-US" altLang="zh-TW" baseline="-25000" dirty="0">
                <a:ea typeface="新細明體" panose="02020500000000000000" pitchFamily="18" charset="-120"/>
              </a:rPr>
              <a:t>2</a:t>
            </a:r>
            <a:r>
              <a:rPr lang="en-US" altLang="zh-TW" dirty="0">
                <a:ea typeface="新細明體" panose="02020500000000000000" pitchFamily="18" charset="-120"/>
              </a:rPr>
              <a:t> </a:t>
            </a:r>
            <a:r>
              <a:rPr lang="tr-TR" altLang="zh-TW" dirty="0">
                <a:ea typeface="新細明體" panose="02020500000000000000" pitchFamily="18" charset="-120"/>
              </a:rPr>
              <a:t>akımları yok etme metoduyla veya</a:t>
            </a:r>
            <a:r>
              <a:rPr lang="en-US" altLang="zh-TW" dirty="0">
                <a:ea typeface="新細明體" panose="02020500000000000000" pitchFamily="18" charset="-120"/>
              </a:rPr>
              <a:t> </a:t>
            </a:r>
            <a:r>
              <a:rPr lang="tr-TR" altLang="zh-TW" dirty="0">
                <a:ea typeface="新細明體" panose="02020500000000000000" pitchFamily="18" charset="-120"/>
              </a:rPr>
              <a:t>Kramer</a:t>
            </a:r>
            <a:r>
              <a:rPr lang="en-US" altLang="zh-TW" dirty="0">
                <a:ea typeface="新細明體" panose="02020500000000000000" pitchFamily="18" charset="-120"/>
              </a:rPr>
              <a:t> </a:t>
            </a:r>
            <a:r>
              <a:rPr lang="tr-TR" altLang="zh-TW" dirty="0">
                <a:ea typeface="新細明體" panose="02020500000000000000" pitchFamily="18" charset="-120"/>
              </a:rPr>
              <a:t>kuralıyla bulunabilir.</a:t>
            </a:r>
            <a:r>
              <a:rPr lang="en-US" altLang="zh-TW" dirty="0">
                <a:ea typeface="新細明體" panose="02020500000000000000" pitchFamily="18" charset="-120"/>
              </a:rPr>
              <a:t> </a:t>
            </a:r>
            <a:r>
              <a:rPr lang="tr-TR" altLang="zh-TW" dirty="0">
                <a:ea typeface="新細明體" panose="02020500000000000000" pitchFamily="18" charset="-120"/>
              </a:rPr>
              <a:t>Ardından</a:t>
            </a:r>
            <a:r>
              <a:rPr lang="en-US" altLang="zh-TW" dirty="0">
                <a:ea typeface="新細明體" panose="02020500000000000000" pitchFamily="18" charset="-120"/>
              </a:rPr>
              <a:t>, </a:t>
            </a:r>
          </a:p>
        </p:txBody>
      </p:sp>
      <p:graphicFrame>
        <p:nvGraphicFramePr>
          <p:cNvPr id="5" name="Object 5">
            <a:extLst>
              <a:ext uri="{FF2B5EF4-FFF2-40B4-BE49-F238E27FC236}">
                <a16:creationId xmlns:a16="http://schemas.microsoft.com/office/drawing/2014/main" id="{93CA0A11-1A18-4A00-AA9B-48BADFEF79B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78692061"/>
              </p:ext>
            </p:extLst>
          </p:nvPr>
        </p:nvGraphicFramePr>
        <p:xfrm>
          <a:off x="2206625" y="2990850"/>
          <a:ext cx="4673600" cy="1092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2" imgW="4673600" imgH="1092200" progId="Equation.3">
                  <p:embed/>
                </p:oleObj>
              </mc:Choice>
              <mc:Fallback>
                <p:oleObj name="方程式" r:id="rId2" imgW="4673600" imgH="1092200" progId="Equation.3">
                  <p:embed/>
                  <p:pic>
                    <p:nvPicPr>
                      <p:cNvPr id="40967" name="Object 5">
                        <a:extLst>
                          <a:ext uri="{FF2B5EF4-FFF2-40B4-BE49-F238E27FC236}">
                            <a16:creationId xmlns:a16="http://schemas.microsoft.com/office/drawing/2014/main" id="{548FA011-6A50-4507-A8AB-FC6936A9814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6625" y="2990850"/>
                        <a:ext cx="4673600" cy="1092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7">
            <a:extLst>
              <a:ext uri="{FF2B5EF4-FFF2-40B4-BE49-F238E27FC236}">
                <a16:creationId xmlns:a16="http://schemas.microsoft.com/office/drawing/2014/main" id="{ACCD809F-FFE2-4F76-8408-BD373104672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29698893"/>
              </p:ext>
            </p:extLst>
          </p:nvPr>
        </p:nvGraphicFramePr>
        <p:xfrm>
          <a:off x="2278062" y="4576543"/>
          <a:ext cx="4533900" cy="1092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4" imgW="4533900" imgH="1092200" progId="Equation.3">
                  <p:embed/>
                </p:oleObj>
              </mc:Choice>
              <mc:Fallback>
                <p:oleObj name="方程式" r:id="rId4" imgW="4533900" imgH="1092200" progId="Equation.3">
                  <p:embed/>
                  <p:pic>
                    <p:nvPicPr>
                      <p:cNvPr id="40968" name="Object 7">
                        <a:extLst>
                          <a:ext uri="{FF2B5EF4-FFF2-40B4-BE49-F238E27FC236}">
                            <a16:creationId xmlns:a16="http://schemas.microsoft.com/office/drawing/2014/main" id="{90953DAC-8037-4AF8-B833-62D6CFDDD84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8062" y="4576543"/>
                        <a:ext cx="4533900" cy="1092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9">
            <a:extLst>
              <a:ext uri="{FF2B5EF4-FFF2-40B4-BE49-F238E27FC236}">
                <a16:creationId xmlns:a16="http://schemas.microsoft.com/office/drawing/2014/main" id="{6256726A-B558-467C-902E-BB7EF2A5BF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30587" y="3565525"/>
            <a:ext cx="2232025" cy="576263"/>
          </a:xfrm>
          <a:prstGeom prst="rect">
            <a:avLst/>
          </a:prstGeom>
          <a:noFill/>
          <a:ln w="9525" algn="ctr">
            <a:solidFill>
              <a:schemeClr val="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endParaRPr lang="tr-TR" altLang="en-US"/>
          </a:p>
        </p:txBody>
      </p:sp>
      <p:sp>
        <p:nvSpPr>
          <p:cNvPr id="8" name="Rectangle 10">
            <a:extLst>
              <a:ext uri="{FF2B5EF4-FFF2-40B4-BE49-F238E27FC236}">
                <a16:creationId xmlns:a16="http://schemas.microsoft.com/office/drawing/2014/main" id="{8C5B8007-22B8-4E65-AB15-AF99E83214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75050" y="5107650"/>
            <a:ext cx="1871662" cy="576263"/>
          </a:xfrm>
          <a:prstGeom prst="rect">
            <a:avLst/>
          </a:prstGeom>
          <a:noFill/>
          <a:ln w="9525" algn="ctr">
            <a:solidFill>
              <a:schemeClr val="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endParaRPr lang="tr-TR" altLang="en-US"/>
          </a:p>
        </p:txBody>
      </p:sp>
      <p:graphicFrame>
        <p:nvGraphicFramePr>
          <p:cNvPr id="9" name="Object 11">
            <a:extLst>
              <a:ext uri="{FF2B5EF4-FFF2-40B4-BE49-F238E27FC236}">
                <a16:creationId xmlns:a16="http://schemas.microsoft.com/office/drawing/2014/main" id="{E2348EA9-9BC2-49F0-900D-37119BFD700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64747410"/>
              </p:ext>
            </p:extLst>
          </p:nvPr>
        </p:nvGraphicFramePr>
        <p:xfrm>
          <a:off x="3389312" y="6351478"/>
          <a:ext cx="45466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6" imgW="4546600" imgH="482600" progId="Equation.3">
                  <p:embed/>
                </p:oleObj>
              </mc:Choice>
              <mc:Fallback>
                <p:oleObj name="方程式" r:id="rId6" imgW="4546600" imgH="482600" progId="Equation.3">
                  <p:embed/>
                  <p:pic>
                    <p:nvPicPr>
                      <p:cNvPr id="40971" name="Object 11">
                        <a:extLst>
                          <a:ext uri="{FF2B5EF4-FFF2-40B4-BE49-F238E27FC236}">
                            <a16:creationId xmlns:a16="http://schemas.microsoft.com/office/drawing/2014/main" id="{07C6B4D4-CBA7-4053-96C3-6AA9389B3E7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89312" y="6351478"/>
                        <a:ext cx="4546600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3" descr="aLe77183_03018">
            <a:extLst>
              <a:ext uri="{FF2B5EF4-FFF2-40B4-BE49-F238E27FC236}">
                <a16:creationId xmlns:a16="http://schemas.microsoft.com/office/drawing/2014/main" id="{7C5F96D3-D858-434E-B95F-6B6554C94DCB}"/>
              </a:ext>
            </a:extLst>
          </p:cNvPr>
          <p:cNvSpPr>
            <a:spLocks noGrp="1" noChangeAspect="1" noChangeArrowheads="1"/>
          </p:cNvSpPr>
          <p:nvPr isPhoto="1"/>
        </p:nvSpPr>
        <p:spPr bwMode="auto">
          <a:xfrm>
            <a:off x="7993494" y="2001043"/>
            <a:ext cx="4198506" cy="3128964"/>
          </a:xfrm>
          <a:prstGeom prst="rect">
            <a:avLst/>
          </a:prstGeom>
          <a:blipFill dpi="0" rotWithShape="1">
            <a:blip r:embed="rId8"/>
            <a:srcRect/>
            <a:stretch>
              <a:fillRect/>
            </a:stretch>
          </a:blipFill>
          <a:ln>
            <a:noFill/>
          </a:ln>
          <a:effectLst/>
          <a:extLst>
            <a:ext uri="{91240B29-F687-4F45-9708-019B960494DF}">
              <a14:hiddenLine xmlns:a14="http://schemas.microsoft.com/office/drawing/2010/main" w="762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201996" dir="13500000" algn="ctr" rotWithShape="0">
                    <a:srgbClr val="808080">
                      <a:alpha val="50000"/>
                    </a:srgbClr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endParaRPr lang="tr-TR" altLang="en-US"/>
          </a:p>
        </p:txBody>
      </p:sp>
    </p:spTree>
    <p:extLst>
      <p:ext uri="{BB962C8B-B14F-4D97-AF65-F5344CB8AC3E}">
        <p14:creationId xmlns:p14="http://schemas.microsoft.com/office/powerpoint/2010/main" val="300852040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5B21405-C346-4CCB-A88A-6048E8681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Örnek</a:t>
            </a:r>
            <a:endParaRPr lang="en-US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983BCF1B-A116-489F-9880-1292960AE6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altLang="zh-TW" dirty="0"/>
              <a:t>Çevre akımları yöntemini kullanarak </a:t>
            </a:r>
            <a:r>
              <a:rPr lang="en-US" altLang="zh-TW" i="1" dirty="0"/>
              <a:t>I</a:t>
            </a:r>
            <a:r>
              <a:rPr lang="en-US" altLang="zh-TW" baseline="-25000" dirty="0"/>
              <a:t>0</a:t>
            </a:r>
            <a:r>
              <a:rPr lang="tr-TR" altLang="zh-TW" dirty="0"/>
              <a:t> akımını bulunuz.</a:t>
            </a:r>
            <a:r>
              <a:rPr lang="en-US" altLang="zh-TW" dirty="0"/>
              <a:t> </a:t>
            </a:r>
            <a:endParaRPr lang="en-US" dirty="0"/>
          </a:p>
        </p:txBody>
      </p:sp>
      <p:sp>
        <p:nvSpPr>
          <p:cNvPr id="4" name="Rectangle 3" descr="aLe77183_03020">
            <a:extLst>
              <a:ext uri="{FF2B5EF4-FFF2-40B4-BE49-F238E27FC236}">
                <a16:creationId xmlns:a16="http://schemas.microsoft.com/office/drawing/2014/main" id="{404736F2-7EE4-4334-8E7B-D968CD0FD603}"/>
              </a:ext>
            </a:extLst>
          </p:cNvPr>
          <p:cNvSpPr>
            <a:spLocks noGrp="1" noChangeAspect="1" noChangeArrowheads="1"/>
          </p:cNvSpPr>
          <p:nvPr isPhoto="1"/>
        </p:nvSpPr>
        <p:spPr bwMode="auto">
          <a:xfrm>
            <a:off x="2960565" y="2371726"/>
            <a:ext cx="5272088" cy="3805237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  <a:effectLst/>
          <a:extLst>
            <a:ext uri="{91240B29-F687-4F45-9708-019B960494DF}">
              <a14:hiddenLine xmlns:a14="http://schemas.microsoft.com/office/drawing/2010/main" w="762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222483" dir="13500000" algn="ctr" rotWithShape="0">
                    <a:srgbClr val="808080">
                      <a:alpha val="50000"/>
                    </a:srgbClr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endParaRPr lang="tr-TR" altLang="en-US"/>
          </a:p>
        </p:txBody>
      </p:sp>
    </p:spTree>
    <p:extLst>
      <p:ext uri="{BB962C8B-B14F-4D97-AF65-F5344CB8AC3E}">
        <p14:creationId xmlns:p14="http://schemas.microsoft.com/office/powerpoint/2010/main" val="294252333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5B21405-C346-4CCB-A88A-6048E8681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Çözüm</a:t>
            </a:r>
            <a:endParaRPr lang="en-US" dirty="0"/>
          </a:p>
        </p:txBody>
      </p:sp>
      <p:sp>
        <p:nvSpPr>
          <p:cNvPr id="4" name="Rectangle 3" descr="aLe77183_03020">
            <a:extLst>
              <a:ext uri="{FF2B5EF4-FFF2-40B4-BE49-F238E27FC236}">
                <a16:creationId xmlns:a16="http://schemas.microsoft.com/office/drawing/2014/main" id="{404736F2-7EE4-4334-8E7B-D968CD0FD603}"/>
              </a:ext>
            </a:extLst>
          </p:cNvPr>
          <p:cNvSpPr>
            <a:spLocks noGrp="1" noChangeAspect="1" noChangeArrowheads="1"/>
          </p:cNvSpPr>
          <p:nvPr isPhoto="1"/>
        </p:nvSpPr>
        <p:spPr bwMode="auto">
          <a:xfrm>
            <a:off x="7779223" y="2160712"/>
            <a:ext cx="4412777" cy="3185012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  <a:effectLst/>
          <a:extLst>
            <a:ext uri="{91240B29-F687-4F45-9708-019B960494DF}">
              <a14:hiddenLine xmlns:a14="http://schemas.microsoft.com/office/drawing/2010/main" w="762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222483" dir="13500000" algn="ctr" rotWithShape="0">
                    <a:srgbClr val="808080">
                      <a:alpha val="50000"/>
                    </a:srgbClr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endParaRPr lang="tr-TR" altLang="en-US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37383A7E-0CDC-482F-9DC5-CD8D924AF3F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26782" y="1690688"/>
            <a:ext cx="8280400" cy="4802187"/>
          </a:xfrm>
        </p:spPr>
        <p:txBody>
          <a:bodyPr/>
          <a:lstStyle/>
          <a:p>
            <a:r>
              <a:rPr lang="tr-TR" dirty="0"/>
              <a:t>1. çevre için;</a:t>
            </a:r>
          </a:p>
          <a:p>
            <a:endParaRPr lang="en-US" altLang="zh-TW" dirty="0">
              <a:ea typeface="新細明體" panose="02020500000000000000" pitchFamily="18" charset="-120"/>
            </a:endParaRPr>
          </a:p>
          <a:p>
            <a:endParaRPr lang="en-US" altLang="zh-TW" dirty="0">
              <a:ea typeface="新細明體" panose="02020500000000000000" pitchFamily="18" charset="-120"/>
            </a:endParaRPr>
          </a:p>
          <a:p>
            <a:r>
              <a:rPr lang="tr-TR" dirty="0"/>
              <a:t>2. çevre için;</a:t>
            </a:r>
          </a:p>
          <a:p>
            <a:endParaRPr lang="tr-TR" altLang="zh-TW" dirty="0">
              <a:ea typeface="新細明體" panose="02020500000000000000" pitchFamily="18" charset="-120"/>
            </a:endParaRPr>
          </a:p>
          <a:p>
            <a:endParaRPr lang="tr-TR" altLang="zh-TW" dirty="0">
              <a:ea typeface="新細明體" panose="02020500000000000000" pitchFamily="18" charset="-120"/>
            </a:endParaRPr>
          </a:p>
          <a:p>
            <a:endParaRPr lang="tr-TR" altLang="zh-TW" dirty="0">
              <a:ea typeface="新細明體" panose="02020500000000000000" pitchFamily="18" charset="-120"/>
            </a:endParaRPr>
          </a:p>
          <a:p>
            <a:r>
              <a:rPr lang="tr-TR" dirty="0"/>
              <a:t>3. çevre için;</a:t>
            </a:r>
          </a:p>
          <a:p>
            <a:endParaRPr lang="en-US" altLang="zh-TW" dirty="0">
              <a:ea typeface="新細明體" panose="02020500000000000000" pitchFamily="18" charset="-120"/>
            </a:endParaRPr>
          </a:p>
        </p:txBody>
      </p:sp>
      <p:graphicFrame>
        <p:nvGraphicFramePr>
          <p:cNvPr id="8" name="Object 4">
            <a:extLst>
              <a:ext uri="{FF2B5EF4-FFF2-40B4-BE49-F238E27FC236}">
                <a16:creationId xmlns:a16="http://schemas.microsoft.com/office/drawing/2014/main" id="{03A3877C-4895-4928-882D-405D2EECBFE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57648736"/>
              </p:ext>
            </p:extLst>
          </p:nvPr>
        </p:nvGraphicFramePr>
        <p:xfrm>
          <a:off x="1823769" y="2156068"/>
          <a:ext cx="4272231" cy="9231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3" imgW="5054600" imgH="1092200" progId="Equation.3">
                  <p:embed/>
                </p:oleObj>
              </mc:Choice>
              <mc:Fallback>
                <p:oleObj name="方程式" r:id="rId3" imgW="5054600" imgH="1092200" progId="Equation.3">
                  <p:embed/>
                  <p:pic>
                    <p:nvPicPr>
                      <p:cNvPr id="43015" name="Object 4">
                        <a:extLst>
                          <a:ext uri="{FF2B5EF4-FFF2-40B4-BE49-F238E27FC236}">
                            <a16:creationId xmlns:a16="http://schemas.microsoft.com/office/drawing/2014/main" id="{BFCBA3C5-11B0-492B-87ED-B5AE18357A7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3769" y="2156068"/>
                        <a:ext cx="4272231" cy="92314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5">
            <a:extLst>
              <a:ext uri="{FF2B5EF4-FFF2-40B4-BE49-F238E27FC236}">
                <a16:creationId xmlns:a16="http://schemas.microsoft.com/office/drawing/2014/main" id="{F2352AF7-DF7C-4304-8E42-27172FA492D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09297857"/>
              </p:ext>
            </p:extLst>
          </p:nvPr>
        </p:nvGraphicFramePr>
        <p:xfrm>
          <a:off x="1964315" y="3716923"/>
          <a:ext cx="4272231" cy="9518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5" imgW="4902200" imgH="1092200" progId="Equation.3">
                  <p:embed/>
                </p:oleObj>
              </mc:Choice>
              <mc:Fallback>
                <p:oleObj name="方程式" r:id="rId5" imgW="4902200" imgH="1092200" progId="Equation.3">
                  <p:embed/>
                  <p:pic>
                    <p:nvPicPr>
                      <p:cNvPr id="43016" name="Object 5">
                        <a:extLst>
                          <a:ext uri="{FF2B5EF4-FFF2-40B4-BE49-F238E27FC236}">
                            <a16:creationId xmlns:a16="http://schemas.microsoft.com/office/drawing/2014/main" id="{0515E9D6-CFCE-4719-B07F-FB548BF3473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64315" y="3716923"/>
                        <a:ext cx="4272231" cy="95184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6">
            <a:extLst>
              <a:ext uri="{FF2B5EF4-FFF2-40B4-BE49-F238E27FC236}">
                <a16:creationId xmlns:a16="http://schemas.microsoft.com/office/drawing/2014/main" id="{302D77FB-BDFA-4D7E-97A1-91B43467C5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87369" y="2672005"/>
            <a:ext cx="2545236" cy="510045"/>
          </a:xfrm>
          <a:prstGeom prst="rect">
            <a:avLst/>
          </a:prstGeom>
          <a:noFill/>
          <a:ln w="9525" algn="ctr">
            <a:solidFill>
              <a:schemeClr val="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endParaRPr lang="tr-TR" altLang="en-US"/>
          </a:p>
        </p:txBody>
      </p:sp>
      <p:sp>
        <p:nvSpPr>
          <p:cNvPr id="11" name="Rectangle 7">
            <a:extLst>
              <a:ext uri="{FF2B5EF4-FFF2-40B4-BE49-F238E27FC236}">
                <a16:creationId xmlns:a16="http://schemas.microsoft.com/office/drawing/2014/main" id="{EEB87BD8-EBAB-41BB-965A-3B17AD631F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12015" y="4232860"/>
            <a:ext cx="3075509" cy="564466"/>
          </a:xfrm>
          <a:prstGeom prst="rect">
            <a:avLst/>
          </a:prstGeom>
          <a:noFill/>
          <a:ln w="9525" algn="ctr">
            <a:solidFill>
              <a:schemeClr val="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endParaRPr lang="tr-TR" altLang="en-US"/>
          </a:p>
        </p:txBody>
      </p:sp>
      <p:graphicFrame>
        <p:nvGraphicFramePr>
          <p:cNvPr id="12" name="Object 4">
            <a:extLst>
              <a:ext uri="{FF2B5EF4-FFF2-40B4-BE49-F238E27FC236}">
                <a16:creationId xmlns:a16="http://schemas.microsoft.com/office/drawing/2014/main" id="{FB1F7623-C688-4660-BF18-E4B5FF491E8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62355153"/>
              </p:ext>
            </p:extLst>
          </p:nvPr>
        </p:nvGraphicFramePr>
        <p:xfrm>
          <a:off x="3290538" y="5049176"/>
          <a:ext cx="4065157" cy="17844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082600" imgH="914400" progId="Equation.DSMT4">
                  <p:embed/>
                </p:oleObj>
              </mc:Choice>
              <mc:Fallback>
                <p:oleObj name="Equation" r:id="rId7" imgW="2082600" imgH="914400" progId="Equation.DSMT4">
                  <p:embed/>
                  <p:pic>
                    <p:nvPicPr>
                      <p:cNvPr id="44039" name="Object 4">
                        <a:extLst>
                          <a:ext uri="{FF2B5EF4-FFF2-40B4-BE49-F238E27FC236}">
                            <a16:creationId xmlns:a16="http://schemas.microsoft.com/office/drawing/2014/main" id="{3CCB674A-BA22-4DA2-9E1A-1864B0C6E41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90538" y="5049176"/>
                        <a:ext cx="4065157" cy="178449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5">
            <a:extLst>
              <a:ext uri="{FF2B5EF4-FFF2-40B4-BE49-F238E27FC236}">
                <a16:creationId xmlns:a16="http://schemas.microsoft.com/office/drawing/2014/main" id="{25FD5698-E57F-4B6B-93C7-4BB69425FF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7203" y="6360938"/>
            <a:ext cx="2560321" cy="512346"/>
          </a:xfrm>
          <a:prstGeom prst="rect">
            <a:avLst/>
          </a:prstGeom>
          <a:noFill/>
          <a:ln w="9525" algn="ctr">
            <a:solidFill>
              <a:schemeClr val="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endParaRPr lang="tr-TR" altLang="en-US"/>
          </a:p>
        </p:txBody>
      </p:sp>
    </p:spTree>
    <p:extLst>
      <p:ext uri="{BB962C8B-B14F-4D97-AF65-F5344CB8AC3E}">
        <p14:creationId xmlns:p14="http://schemas.microsoft.com/office/powerpoint/2010/main" val="78483970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CC814EA-5BC5-4B3F-837A-BC064F0AFC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Çözüm</a:t>
            </a:r>
            <a:endParaRPr lang="en-US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1F173E7D-F902-443F-93D9-EEF287C828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i="1" dirty="0"/>
              <a:t>i</a:t>
            </a:r>
            <a:r>
              <a:rPr lang="en-US" altLang="zh-TW" baseline="-25000" dirty="0"/>
              <a:t>1</a:t>
            </a:r>
            <a:r>
              <a:rPr lang="en-US" altLang="zh-TW" dirty="0"/>
              <a:t>, </a:t>
            </a:r>
            <a:r>
              <a:rPr lang="en-US" altLang="zh-TW" i="1" dirty="0"/>
              <a:t>i</a:t>
            </a:r>
            <a:r>
              <a:rPr lang="en-US" altLang="zh-TW" baseline="-25000" dirty="0"/>
              <a:t>2 </a:t>
            </a:r>
            <a:r>
              <a:rPr lang="en-US" altLang="zh-TW" dirty="0"/>
              <a:t>and</a:t>
            </a:r>
            <a:r>
              <a:rPr lang="en-US" altLang="zh-TW" i="1" dirty="0"/>
              <a:t> i</a:t>
            </a:r>
            <a:r>
              <a:rPr lang="en-US" altLang="zh-TW" baseline="-25000" dirty="0"/>
              <a:t>3 </a:t>
            </a:r>
            <a:r>
              <a:rPr lang="tr-TR" altLang="zh-TW" i="1" dirty="0"/>
              <a:t>ve </a:t>
            </a:r>
            <a:r>
              <a:rPr lang="en-US" altLang="zh-TW" i="1" dirty="0"/>
              <a:t>I</a:t>
            </a:r>
            <a:r>
              <a:rPr lang="en-US" altLang="zh-TW" baseline="-25000" dirty="0"/>
              <a:t>0 </a:t>
            </a:r>
            <a:r>
              <a:rPr lang="tr-TR" altLang="zh-TW" i="1" dirty="0"/>
              <a:t>akımları Kramer kuralıyla bulunabilir.</a:t>
            </a:r>
          </a:p>
          <a:p>
            <a:endParaRPr lang="tr-TR" i="1" dirty="0"/>
          </a:p>
          <a:p>
            <a:endParaRPr lang="tr-TR" i="1" dirty="0"/>
          </a:p>
          <a:p>
            <a:endParaRPr lang="tr-TR" i="1" dirty="0"/>
          </a:p>
          <a:p>
            <a:endParaRPr lang="tr-TR" i="1" dirty="0"/>
          </a:p>
          <a:p>
            <a:endParaRPr lang="tr-TR" i="1" dirty="0"/>
          </a:p>
        </p:txBody>
      </p:sp>
      <p:graphicFrame>
        <p:nvGraphicFramePr>
          <p:cNvPr id="5" name="Nesne 4">
            <a:extLst>
              <a:ext uri="{FF2B5EF4-FFF2-40B4-BE49-F238E27FC236}">
                <a16:creationId xmlns:a16="http://schemas.microsoft.com/office/drawing/2014/main" id="{AB4F5B98-1B52-4689-8D5C-5F00680E2D1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05779108"/>
              </p:ext>
            </p:extLst>
          </p:nvPr>
        </p:nvGraphicFramePr>
        <p:xfrm>
          <a:off x="1091418" y="2588406"/>
          <a:ext cx="3476625" cy="1171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476568" imgH="1171512" progId="Equation.DSMT4">
                  <p:embed/>
                </p:oleObj>
              </mc:Choice>
              <mc:Fallback>
                <p:oleObj name="Equation" r:id="rId2" imgW="3476568" imgH="1171512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091418" y="2588406"/>
                        <a:ext cx="3476625" cy="11715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Nesne 3">
            <a:extLst>
              <a:ext uri="{FF2B5EF4-FFF2-40B4-BE49-F238E27FC236}">
                <a16:creationId xmlns:a16="http://schemas.microsoft.com/office/drawing/2014/main" id="{9B99FAB9-AE54-4076-BC39-59AB72986F6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40055160"/>
              </p:ext>
            </p:extLst>
          </p:nvPr>
        </p:nvGraphicFramePr>
        <p:xfrm>
          <a:off x="955040" y="4202722"/>
          <a:ext cx="1742440" cy="6400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622080" imgH="228600" progId="Equation.DSMT4">
                  <p:embed/>
                </p:oleObj>
              </mc:Choice>
              <mc:Fallback>
                <p:oleObj name="Equation" r:id="rId4" imgW="62208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955040" y="4202722"/>
                        <a:ext cx="1742440" cy="6400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1725965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CC814EA-5BC5-4B3F-837A-BC064F0AFC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Çözüm</a:t>
            </a:r>
            <a:endParaRPr lang="en-US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1F173E7D-F902-443F-93D9-EEF287C828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i="1" dirty="0"/>
              <a:t>i</a:t>
            </a:r>
            <a:r>
              <a:rPr lang="en-US" altLang="zh-TW" baseline="-25000" dirty="0"/>
              <a:t>1</a:t>
            </a:r>
            <a:r>
              <a:rPr lang="en-US" altLang="zh-TW" dirty="0"/>
              <a:t>, </a:t>
            </a:r>
            <a:r>
              <a:rPr lang="en-US" altLang="zh-TW" i="1" dirty="0"/>
              <a:t>i</a:t>
            </a:r>
            <a:r>
              <a:rPr lang="en-US" altLang="zh-TW" baseline="-25000" dirty="0"/>
              <a:t>2 </a:t>
            </a:r>
            <a:r>
              <a:rPr lang="en-US" altLang="zh-TW" dirty="0"/>
              <a:t>and</a:t>
            </a:r>
            <a:r>
              <a:rPr lang="en-US" altLang="zh-TW" i="1" dirty="0"/>
              <a:t> i</a:t>
            </a:r>
            <a:r>
              <a:rPr lang="en-US" altLang="zh-TW" baseline="-25000" dirty="0"/>
              <a:t>3 </a:t>
            </a:r>
            <a:r>
              <a:rPr lang="tr-TR" altLang="zh-TW" i="1" dirty="0"/>
              <a:t>ve </a:t>
            </a:r>
            <a:r>
              <a:rPr lang="en-US" altLang="zh-TW" i="1" dirty="0"/>
              <a:t>I</a:t>
            </a:r>
            <a:r>
              <a:rPr lang="en-US" altLang="zh-TW" baseline="-25000" dirty="0"/>
              <a:t>0 </a:t>
            </a:r>
            <a:r>
              <a:rPr lang="tr-TR" altLang="zh-TW" i="1" dirty="0"/>
              <a:t>akımları Kramer kuralıyla bulunabilir.</a:t>
            </a:r>
          </a:p>
          <a:p>
            <a:endParaRPr lang="tr-TR" i="1" dirty="0"/>
          </a:p>
          <a:p>
            <a:endParaRPr lang="tr-TR" i="1" dirty="0"/>
          </a:p>
          <a:p>
            <a:endParaRPr lang="tr-TR" i="1" dirty="0"/>
          </a:p>
          <a:p>
            <a:endParaRPr lang="tr-TR" i="1" dirty="0"/>
          </a:p>
          <a:p>
            <a:endParaRPr lang="tr-TR" i="1" dirty="0"/>
          </a:p>
        </p:txBody>
      </p:sp>
      <p:graphicFrame>
        <p:nvGraphicFramePr>
          <p:cNvPr id="5" name="Nesne 4">
            <a:extLst>
              <a:ext uri="{FF2B5EF4-FFF2-40B4-BE49-F238E27FC236}">
                <a16:creationId xmlns:a16="http://schemas.microsoft.com/office/drawing/2014/main" id="{AB4F5B98-1B52-4689-8D5C-5F00680E2D1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91418" y="2588406"/>
          <a:ext cx="3476625" cy="1171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476568" imgH="1171512" progId="Equation.DSMT4">
                  <p:embed/>
                </p:oleObj>
              </mc:Choice>
              <mc:Fallback>
                <p:oleObj name="Equation" r:id="rId2" imgW="3476568" imgH="1171512" progId="Equation.DSMT4">
                  <p:embed/>
                  <p:pic>
                    <p:nvPicPr>
                      <p:cNvPr id="5" name="Nesne 4">
                        <a:extLst>
                          <a:ext uri="{FF2B5EF4-FFF2-40B4-BE49-F238E27FC236}">
                            <a16:creationId xmlns:a16="http://schemas.microsoft.com/office/drawing/2014/main" id="{AB4F5B98-1B52-4689-8D5C-5F00680E2D1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091418" y="2588406"/>
                        <a:ext cx="3476625" cy="11715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Nesne 3">
            <a:extLst>
              <a:ext uri="{FF2B5EF4-FFF2-40B4-BE49-F238E27FC236}">
                <a16:creationId xmlns:a16="http://schemas.microsoft.com/office/drawing/2014/main" id="{9B99FAB9-AE54-4076-BC39-59AB72986F6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70790881"/>
              </p:ext>
            </p:extLst>
          </p:nvPr>
        </p:nvGraphicFramePr>
        <p:xfrm>
          <a:off x="1091419" y="4007298"/>
          <a:ext cx="7298202" cy="8076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911400" imgH="431640" progId="Equation.DSMT4">
                  <p:embed/>
                </p:oleObj>
              </mc:Choice>
              <mc:Fallback>
                <p:oleObj name="Equation" r:id="rId4" imgW="3911400" imgH="431640" progId="Equation.DSMT4">
                  <p:embed/>
                  <p:pic>
                    <p:nvPicPr>
                      <p:cNvPr id="4" name="Nesne 3">
                        <a:extLst>
                          <a:ext uri="{FF2B5EF4-FFF2-40B4-BE49-F238E27FC236}">
                            <a16:creationId xmlns:a16="http://schemas.microsoft.com/office/drawing/2014/main" id="{9B99FAB9-AE54-4076-BC39-59AB72986F6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091419" y="4007298"/>
                        <a:ext cx="7298202" cy="80761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3AA9ABEF-7244-4DD5-91C9-CCE30041827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24559157"/>
              </p:ext>
            </p:extLst>
          </p:nvPr>
        </p:nvGraphicFramePr>
        <p:xfrm>
          <a:off x="1018710" y="4968472"/>
          <a:ext cx="1518750" cy="17357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066680" imgH="1218960" progId="Equation.DSMT4">
                  <p:embed/>
                </p:oleObj>
              </mc:Choice>
              <mc:Fallback>
                <p:oleObj name="Equation" r:id="rId6" imgW="1066680" imgH="12189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018710" y="4968472"/>
                        <a:ext cx="1518750" cy="173571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4EBE03EE-9180-402A-885A-0653FEA3E99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80104736"/>
              </p:ext>
            </p:extLst>
          </p:nvPr>
        </p:nvGraphicFramePr>
        <p:xfrm>
          <a:off x="4474845" y="5522004"/>
          <a:ext cx="1733550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733550" imgH="628650" progId="Equation.DSMT4">
                  <p:embed/>
                </p:oleObj>
              </mc:Choice>
              <mc:Fallback>
                <p:oleObj name="Equation" r:id="rId8" imgW="1733550" imgH="62865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4474845" y="5522004"/>
                        <a:ext cx="1733550" cy="6286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C40562CF-7C00-4416-BBCC-F53B978F800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43021021"/>
              </p:ext>
            </p:extLst>
          </p:nvPr>
        </p:nvGraphicFramePr>
        <p:xfrm>
          <a:off x="4551045" y="6136596"/>
          <a:ext cx="3594735" cy="5675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447560" imgH="228600" progId="Equation.DSMT4">
                  <p:embed/>
                </p:oleObj>
              </mc:Choice>
              <mc:Fallback>
                <p:oleObj name="Equation" r:id="rId10" imgW="144756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4551045" y="6136596"/>
                        <a:ext cx="3594735" cy="5675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8229771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2D0B19C0-455C-43AB-91D2-FDD480745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Ek</a:t>
            </a:r>
            <a:endParaRPr lang="en-US" dirty="0"/>
          </a:p>
        </p:txBody>
      </p:sp>
      <p:pic>
        <p:nvPicPr>
          <p:cNvPr id="4" name="İçerik Yer Tutucusu 3">
            <a:extLst>
              <a:ext uri="{FF2B5EF4-FFF2-40B4-BE49-F238E27FC236}">
                <a16:creationId xmlns:a16="http://schemas.microsoft.com/office/drawing/2014/main" id="{1605D1A1-DCD1-4821-B397-527D9686CD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82065" y="1690688"/>
            <a:ext cx="6477000" cy="4714188"/>
          </a:xfrm>
          <a:prstGeom prst="rect">
            <a:avLst/>
          </a:prstGeom>
        </p:spPr>
      </p:pic>
      <p:sp>
        <p:nvSpPr>
          <p:cNvPr id="3" name="Metin kutusu 2">
            <a:extLst>
              <a:ext uri="{FF2B5EF4-FFF2-40B4-BE49-F238E27FC236}">
                <a16:creationId xmlns:a16="http://schemas.microsoft.com/office/drawing/2014/main" id="{18C9C7AE-94FD-4D76-AB8F-404701E2FE25}"/>
              </a:ext>
            </a:extLst>
          </p:cNvPr>
          <p:cNvSpPr txBox="1"/>
          <p:nvPr/>
        </p:nvSpPr>
        <p:spPr>
          <a:xfrm>
            <a:off x="1069145" y="2208628"/>
            <a:ext cx="40374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Kramer kuralı Lineer Cebir dersinin konusudur.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5FA417C-3B51-4E13-8985-04507F1BDE0D}"/>
              </a:ext>
            </a:extLst>
          </p:cNvPr>
          <p:cNvSpPr txBox="1"/>
          <p:nvPr/>
        </p:nvSpPr>
        <p:spPr>
          <a:xfrm>
            <a:off x="1280160" y="3678450"/>
            <a:ext cx="25331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/>
              <a:t>3*3 Matris determinantı;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82AE16E-E33C-4DD4-8903-DB1956BE4C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82" y="4068632"/>
            <a:ext cx="5267325" cy="201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57684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3847</TotalTime>
  <Words>733</Words>
  <Application>Microsoft Office PowerPoint</Application>
  <PresentationFormat>Geniş ekran</PresentationFormat>
  <Paragraphs>150</Paragraphs>
  <Slides>29</Slides>
  <Notes>0</Notes>
  <HiddenSlides>0</HiddenSlides>
  <MMClips>0</MMClips>
  <ScaleCrop>false</ScaleCrop>
  <HeadingPairs>
    <vt:vector size="8" baseType="variant">
      <vt:variant>
        <vt:lpstr>Kullanılan Yazı Tipleri</vt:lpstr>
      </vt:variant>
      <vt:variant>
        <vt:i4>7</vt:i4>
      </vt:variant>
      <vt:variant>
        <vt:lpstr>Tema</vt:lpstr>
      </vt:variant>
      <vt:variant>
        <vt:i4>1</vt:i4>
      </vt:variant>
      <vt:variant>
        <vt:lpstr>Eklenmiş OLE Hizmet Programları</vt:lpstr>
      </vt:variant>
      <vt:variant>
        <vt:i4>2</vt:i4>
      </vt:variant>
      <vt:variant>
        <vt:lpstr>Slayt Başlıkları</vt:lpstr>
      </vt:variant>
      <vt:variant>
        <vt:i4>29</vt:i4>
      </vt:variant>
    </vt:vector>
  </HeadingPairs>
  <TitlesOfParts>
    <vt:vector size="39" baseType="lpstr">
      <vt:lpstr>新細明體</vt:lpstr>
      <vt:lpstr>Arial</vt:lpstr>
      <vt:lpstr>Calibri</vt:lpstr>
      <vt:lpstr>Calibri Light</vt:lpstr>
      <vt:lpstr>Cambria Math</vt:lpstr>
      <vt:lpstr>Times New Roman</vt:lpstr>
      <vt:lpstr>Wingdings</vt:lpstr>
      <vt:lpstr>Office Teması</vt:lpstr>
      <vt:lpstr>Equation</vt:lpstr>
      <vt:lpstr>方程式</vt:lpstr>
      <vt:lpstr>Elektrik Devre Temelleri 1. Hafta-Devam Ders Notu</vt:lpstr>
      <vt:lpstr>İçerik</vt:lpstr>
      <vt:lpstr>Düğüm Gerilimleri Yöntemi</vt:lpstr>
      <vt:lpstr>Düğüm Belirleme</vt:lpstr>
      <vt:lpstr>Dal Akımları için Denklemlerin Yazılması</vt:lpstr>
      <vt:lpstr>K.A.K. Uygulanması</vt:lpstr>
      <vt:lpstr>K.A.K. Uygulanması</vt:lpstr>
      <vt:lpstr>Örnek</vt:lpstr>
      <vt:lpstr>Örnek</vt:lpstr>
      <vt:lpstr>Polariteye Dikkat Edelim</vt:lpstr>
      <vt:lpstr>Örnek</vt:lpstr>
      <vt:lpstr>Örnek</vt:lpstr>
      <vt:lpstr>Akım Kaynakları</vt:lpstr>
      <vt:lpstr>Örnek</vt:lpstr>
      <vt:lpstr>Örnek</vt:lpstr>
      <vt:lpstr>Örnek</vt:lpstr>
      <vt:lpstr>Örnek</vt:lpstr>
      <vt:lpstr>Çevre Akımları Yöntemi</vt:lpstr>
      <vt:lpstr>Çevre Akımları Yöntemi</vt:lpstr>
      <vt:lpstr>Çevre Akımları Yöntemi</vt:lpstr>
      <vt:lpstr>Çevrelere KGK Uygulanır</vt:lpstr>
      <vt:lpstr>Eşitlik Çözülür</vt:lpstr>
      <vt:lpstr>Örnek</vt:lpstr>
      <vt:lpstr>Çözüm</vt:lpstr>
      <vt:lpstr>Örnek</vt:lpstr>
      <vt:lpstr>Çözüm</vt:lpstr>
      <vt:lpstr>Çözüm</vt:lpstr>
      <vt:lpstr>Çözüm</vt:lpstr>
      <vt:lpstr>Ek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Elektrik Devre Temelleri</dc:title>
  <dc:creator>dr</dc:creator>
  <cp:lastModifiedBy>Ebru Başer</cp:lastModifiedBy>
  <cp:revision>263</cp:revision>
  <dcterms:created xsi:type="dcterms:W3CDTF">2023-09-14T06:34:23Z</dcterms:created>
  <dcterms:modified xsi:type="dcterms:W3CDTF">2026-07-14T04:36:01Z</dcterms:modified>
</cp:coreProperties>
</file>